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2" d="100"/>
          <a:sy n="62" d="100"/>
        </p:scale>
        <p:origin x="804"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png"/><Relationship Id="rId7"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71525" y="2208014"/>
            <a:ext cx="10648950" cy="200025"/>
          </a:xfrm>
          <a:prstGeom prst="rect">
            <a:avLst/>
          </a:prstGeom>
          <a:noFill/>
        </p:spPr>
        <p:txBody>
          <a:bodyPr wrap="square" lIns="0" tIns="0" rIns="0" bIns="0" anchor="ctr">
            <a:spAutoFit/>
          </a:bodyPr>
          <a:lstStyle/>
          <a:p>
            <a:pPr algn="l"/>
            <a:r>
              <a:rPr sz="1200" b="0" i="0" u="none">
                <a:solidFill>
                  <a:srgbClr val="0EA5E9"/>
                </a:solidFill>
                <a:latin typeface="JetBrains Mono"/>
              </a:rPr>
              <a:t>PROJECT OVERVIEW</a:t>
            </a:r>
          </a:p>
        </p:txBody>
      </p:sp>
      <p:sp>
        <p:nvSpPr>
          <p:cNvPr id="4" name="TextBox 3"/>
          <p:cNvSpPr txBox="1"/>
          <p:nvPr/>
        </p:nvSpPr>
        <p:spPr>
          <a:xfrm>
            <a:off x="771525" y="2598539"/>
            <a:ext cx="11181397" cy="754260"/>
          </a:xfrm>
          <a:prstGeom prst="rect">
            <a:avLst/>
          </a:prstGeom>
          <a:noFill/>
        </p:spPr>
        <p:txBody>
          <a:bodyPr wrap="square" lIns="0" tIns="0" rIns="0" bIns="0" anchor="t">
            <a:spAutoFit/>
          </a:bodyPr>
          <a:lstStyle/>
          <a:p>
            <a:pPr algn="l">
              <a:lnSpc>
                <a:spcPts val="5940"/>
              </a:lnSpc>
            </a:pPr>
            <a:r>
              <a:rPr sz="5400" b="0" i="0" u="none">
                <a:solidFill>
                  <a:srgbClr val="F8FAFC"/>
                </a:solidFill>
                <a:latin typeface="Space Grotesk SemiBold"/>
              </a:rPr>
              <a:t>Invisible Cloak</a:t>
            </a:r>
          </a:p>
        </p:txBody>
      </p:sp>
      <p:sp>
        <p:nvSpPr>
          <p:cNvPr id="5" name="TextBox 4"/>
          <p:cNvSpPr txBox="1"/>
          <p:nvPr/>
        </p:nvSpPr>
        <p:spPr>
          <a:xfrm>
            <a:off x="771525" y="3448050"/>
            <a:ext cx="11181397" cy="485775"/>
          </a:xfrm>
          <a:prstGeom prst="rect">
            <a:avLst/>
          </a:prstGeom>
          <a:noFill/>
        </p:spPr>
        <p:txBody>
          <a:bodyPr wrap="square" lIns="0" tIns="0" rIns="0" bIns="0" anchor="t">
            <a:spAutoFit/>
          </a:bodyPr>
          <a:lstStyle/>
          <a:p>
            <a:pPr algn="l"/>
            <a:r>
              <a:rPr sz="3000" b="0" i="0" u="none">
                <a:solidFill>
                  <a:srgbClr val="0EA5E9"/>
                </a:solidFill>
                <a:latin typeface="Space Grotesk Medium"/>
              </a:rPr>
              <a:t>Real-Time Computer Vision</a:t>
            </a:r>
          </a:p>
        </p:txBody>
      </p:sp>
      <p:sp>
        <p:nvSpPr>
          <p:cNvPr id="6" name="TextBox 5"/>
          <p:cNvSpPr txBox="1"/>
          <p:nvPr/>
        </p:nvSpPr>
        <p:spPr>
          <a:xfrm>
            <a:off x="771525" y="4314825"/>
            <a:ext cx="7620000" cy="335160"/>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Built with Python &amp; OpenCV</a:t>
            </a:r>
          </a:p>
        </p:txBody>
      </p:sp>
      <p:sp>
        <p:nvSpPr>
          <p:cNvPr id="7" name="Rectangle 6"/>
          <p:cNvSpPr/>
          <p:nvPr/>
        </p:nvSpPr>
        <p:spPr>
          <a:xfrm>
            <a:off x="771525" y="2408039"/>
            <a:ext cx="381000" cy="1905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809750" y="2105025"/>
            <a:ext cx="8572500" cy="2133600"/>
          </a:xfrm>
          <a:prstGeom prst="rect">
            <a:avLst/>
          </a:prstGeom>
          <a:noFill/>
        </p:spPr>
        <p:txBody>
          <a:bodyPr wrap="square" lIns="0" tIns="0" rIns="0" bIns="0" anchor="t">
            <a:spAutoFit/>
          </a:bodyPr>
          <a:lstStyle/>
          <a:p>
            <a:pPr algn="ctr">
              <a:lnSpc>
                <a:spcPts val="4200"/>
              </a:lnSpc>
            </a:pPr>
            <a:r>
              <a:rPr sz="3000" b="0" i="0" u="none">
                <a:solidFill>
                  <a:srgbClr val="F8FAFC"/>
                </a:solidFill>
                <a:latin typeface="Space Grotesk"/>
              </a:rPr>
              <a:t>"The goal was to engineer a robust, real-time classical computer vision application without relying on deep learning—proving the power of pixel-level mathematical manipulation."</a:t>
            </a:r>
          </a:p>
        </p:txBody>
      </p:sp>
      <p:sp>
        <p:nvSpPr>
          <p:cNvPr id="4" name="TextBox 3"/>
          <p:cNvSpPr txBox="1"/>
          <p:nvPr/>
        </p:nvSpPr>
        <p:spPr>
          <a:xfrm>
            <a:off x="5143500" y="4524375"/>
            <a:ext cx="1905000" cy="228600"/>
          </a:xfrm>
          <a:prstGeom prst="rect">
            <a:avLst/>
          </a:prstGeom>
          <a:noFill/>
        </p:spPr>
        <p:txBody>
          <a:bodyPr wrap="square" lIns="0" tIns="0" rIns="0" bIns="0" anchor="t">
            <a:spAutoFit/>
          </a:bodyPr>
          <a:lstStyle/>
          <a:p>
            <a:pPr algn="ctr"/>
            <a:r>
              <a:rPr sz="1500" b="0" i="0" u="none">
                <a:solidFill>
                  <a:srgbClr val="0EA5E9"/>
                </a:solidFill>
                <a:latin typeface="Inter"/>
              </a:rPr>
              <a:t>— Project Motivation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771525" y="1995487"/>
            <a:ext cx="3295650" cy="3829050"/>
          </a:xfrm>
          <a:prstGeom prst="rect">
            <a:avLst/>
          </a:prstGeom>
        </p:spPr>
      </p:pic>
      <p:pic>
        <p:nvPicPr>
          <p:cNvPr id="4" name="Picture 3" descr="image.png"/>
          <p:cNvPicPr>
            <a:picLocks noChangeAspect="1"/>
          </p:cNvPicPr>
          <p:nvPr/>
        </p:nvPicPr>
        <p:blipFill>
          <a:blip r:embed="rId4"/>
          <a:stretch>
            <a:fillRect/>
          </a:stretch>
        </p:blipFill>
        <p:spPr>
          <a:xfrm>
            <a:off x="4448175" y="1995487"/>
            <a:ext cx="3295650" cy="3829050"/>
          </a:xfrm>
          <a:prstGeom prst="rect">
            <a:avLst/>
          </a:prstGeom>
        </p:spPr>
      </p:pic>
      <p:pic>
        <p:nvPicPr>
          <p:cNvPr id="5" name="Picture 4" descr="image.png"/>
          <p:cNvPicPr>
            <a:picLocks noChangeAspect="1"/>
          </p:cNvPicPr>
          <p:nvPr/>
        </p:nvPicPr>
        <p:blipFill>
          <a:blip r:embed="rId5"/>
          <a:stretch>
            <a:fillRect/>
          </a:stretch>
        </p:blipFill>
        <p:spPr>
          <a:xfrm>
            <a:off x="8124825" y="1995487"/>
            <a:ext cx="3295650" cy="3829050"/>
          </a:xfrm>
          <a:prstGeom prst="rect">
            <a:avLst/>
          </a:prstGeom>
        </p:spPr>
      </p:pic>
      <p:sp>
        <p:nvSpPr>
          <p:cNvPr id="6" name="TextBox 5"/>
          <p:cNvSpPr txBox="1"/>
          <p:nvPr/>
        </p:nvSpPr>
        <p:spPr>
          <a:xfrm>
            <a:off x="771525" y="581025"/>
            <a:ext cx="11181397" cy="581025"/>
          </a:xfrm>
          <a:prstGeom prst="rect">
            <a:avLst/>
          </a:prstGeom>
          <a:noFill/>
        </p:spPr>
        <p:txBody>
          <a:bodyPr wrap="square" lIns="0" tIns="0" rIns="0" bIns="0" anchor="t">
            <a:spAutoFit/>
          </a:bodyPr>
          <a:lstStyle/>
          <a:p>
            <a:pPr algn="l"/>
            <a:r>
              <a:rPr sz="3600" b="0" i="0" u="none">
                <a:solidFill>
                  <a:srgbClr val="F8FAFC"/>
                </a:solidFill>
                <a:latin typeface="Space Grotesk SemiBold"/>
              </a:rPr>
              <a:t>Core </a:t>
            </a:r>
            <a:r>
              <a:rPr sz="3600" b="0" i="0" u="none">
                <a:solidFill>
                  <a:srgbClr val="8B5CF6"/>
                </a:solidFill>
                <a:latin typeface="Space Grotesk SemiBold"/>
              </a:rPr>
              <a:t>Objectives</a:t>
            </a:r>
          </a:p>
        </p:txBody>
      </p:sp>
      <p:sp>
        <p:nvSpPr>
          <p:cNvPr id="7" name="TextBox 6"/>
          <p:cNvSpPr txBox="1"/>
          <p:nvPr/>
        </p:nvSpPr>
        <p:spPr>
          <a:xfrm>
            <a:off x="1162050" y="3081337"/>
            <a:ext cx="2640330" cy="685800"/>
          </a:xfrm>
          <a:prstGeom prst="rect">
            <a:avLst/>
          </a:prstGeom>
          <a:noFill/>
        </p:spPr>
        <p:txBody>
          <a:bodyPr wrap="square" lIns="0" tIns="0" rIns="0" bIns="0" anchor="t">
            <a:spAutoFit/>
          </a:bodyPr>
          <a:lstStyle/>
          <a:p>
            <a:pPr algn="l"/>
            <a:r>
              <a:rPr sz="2100" b="0" i="0" u="none">
                <a:solidFill>
                  <a:srgbClr val="F1F5F9"/>
                </a:solidFill>
                <a:latin typeface="Space Grotesk SemiBold"/>
              </a:rPr>
              <a:t>Real-Time Execution</a:t>
            </a:r>
          </a:p>
        </p:txBody>
      </p:sp>
      <p:sp>
        <p:nvSpPr>
          <p:cNvPr id="8" name="TextBox 7"/>
          <p:cNvSpPr txBox="1"/>
          <p:nvPr/>
        </p:nvSpPr>
        <p:spPr>
          <a:xfrm>
            <a:off x="1162050" y="3910012"/>
            <a:ext cx="2514600" cy="1524000"/>
          </a:xfrm>
          <a:prstGeom prst="rect">
            <a:avLst/>
          </a:prstGeom>
          <a:noFill/>
        </p:spPr>
        <p:txBody>
          <a:bodyPr wrap="square" lIns="0" tIns="0" rIns="0" bIns="0" anchor="t">
            <a:spAutoFit/>
          </a:bodyPr>
          <a:lstStyle/>
          <a:p>
            <a:pPr algn="l">
              <a:lnSpc>
                <a:spcPts val="2400"/>
              </a:lnSpc>
            </a:pPr>
            <a:r>
              <a:rPr sz="1500" b="0" i="0" u="none">
                <a:solidFill>
                  <a:srgbClr val="94A3B8"/>
                </a:solidFill>
                <a:latin typeface="Inter"/>
              </a:rPr>
              <a:t>Process high-resolution webcam frames (640x360 processing, 1280x720 output) seamlessly without dropping FPS.</a:t>
            </a:r>
          </a:p>
        </p:txBody>
      </p:sp>
      <p:sp>
        <p:nvSpPr>
          <p:cNvPr id="9" name="TextBox 8"/>
          <p:cNvSpPr txBox="1"/>
          <p:nvPr/>
        </p:nvSpPr>
        <p:spPr>
          <a:xfrm>
            <a:off x="4838700" y="3081337"/>
            <a:ext cx="2640330" cy="685800"/>
          </a:xfrm>
          <a:prstGeom prst="rect">
            <a:avLst/>
          </a:prstGeom>
          <a:noFill/>
        </p:spPr>
        <p:txBody>
          <a:bodyPr wrap="square" lIns="0" tIns="0" rIns="0" bIns="0" anchor="t">
            <a:spAutoFit/>
          </a:bodyPr>
          <a:lstStyle/>
          <a:p>
            <a:pPr algn="l"/>
            <a:r>
              <a:rPr sz="2100" b="0" i="0" u="none">
                <a:solidFill>
                  <a:srgbClr val="F1F5F9"/>
                </a:solidFill>
                <a:latin typeface="Space Grotesk SemiBold"/>
              </a:rPr>
              <a:t>Dynamic Segmentation</a:t>
            </a:r>
          </a:p>
        </p:txBody>
      </p:sp>
      <p:sp>
        <p:nvSpPr>
          <p:cNvPr id="10" name="TextBox 9"/>
          <p:cNvSpPr txBox="1"/>
          <p:nvPr/>
        </p:nvSpPr>
        <p:spPr>
          <a:xfrm>
            <a:off x="4838700" y="3910012"/>
            <a:ext cx="2514600" cy="1524000"/>
          </a:xfrm>
          <a:prstGeom prst="rect">
            <a:avLst/>
          </a:prstGeom>
          <a:noFill/>
        </p:spPr>
        <p:txBody>
          <a:bodyPr wrap="square" lIns="0" tIns="0" rIns="0" bIns="0" anchor="t">
            <a:spAutoFit/>
          </a:bodyPr>
          <a:lstStyle/>
          <a:p>
            <a:pPr algn="l">
              <a:lnSpc>
                <a:spcPts val="2400"/>
              </a:lnSpc>
            </a:pPr>
            <a:r>
              <a:rPr sz="1500" b="0" i="0" u="none">
                <a:solidFill>
                  <a:srgbClr val="94A3B8"/>
                </a:solidFill>
                <a:latin typeface="Inter"/>
              </a:rPr>
              <a:t>Accurately detect and isolate specific color ranges (Blue, Red, Green, Purple) in varying lighting conditions.</a:t>
            </a:r>
          </a:p>
        </p:txBody>
      </p:sp>
      <p:sp>
        <p:nvSpPr>
          <p:cNvPr id="11" name="TextBox 10"/>
          <p:cNvSpPr txBox="1"/>
          <p:nvPr/>
        </p:nvSpPr>
        <p:spPr>
          <a:xfrm>
            <a:off x="8515350" y="3081337"/>
            <a:ext cx="2640330" cy="685800"/>
          </a:xfrm>
          <a:prstGeom prst="rect">
            <a:avLst/>
          </a:prstGeom>
          <a:noFill/>
        </p:spPr>
        <p:txBody>
          <a:bodyPr wrap="square" lIns="0" tIns="0" rIns="0" bIns="0" anchor="t">
            <a:spAutoFit/>
          </a:bodyPr>
          <a:lstStyle/>
          <a:p>
            <a:pPr algn="l"/>
            <a:r>
              <a:rPr sz="2100" b="0" i="0" u="none">
                <a:solidFill>
                  <a:srgbClr val="F1F5F9"/>
                </a:solidFill>
                <a:latin typeface="Space Grotesk SemiBold"/>
              </a:rPr>
              <a:t>Robust Engineering</a:t>
            </a:r>
          </a:p>
        </p:txBody>
      </p:sp>
      <p:sp>
        <p:nvSpPr>
          <p:cNvPr id="12" name="TextBox 11"/>
          <p:cNvSpPr txBox="1"/>
          <p:nvPr/>
        </p:nvSpPr>
        <p:spPr>
          <a:xfrm>
            <a:off x="8515350" y="3910012"/>
            <a:ext cx="2514600" cy="1219200"/>
          </a:xfrm>
          <a:prstGeom prst="rect">
            <a:avLst/>
          </a:prstGeom>
          <a:noFill/>
        </p:spPr>
        <p:txBody>
          <a:bodyPr wrap="square" lIns="0" tIns="0" rIns="0" bIns="0" anchor="t">
            <a:spAutoFit/>
          </a:bodyPr>
          <a:lstStyle/>
          <a:p>
            <a:pPr algn="l">
              <a:lnSpc>
                <a:spcPts val="2400"/>
              </a:lnSpc>
            </a:pPr>
            <a:r>
              <a:rPr sz="1500" b="0" i="0" u="none">
                <a:solidFill>
                  <a:srgbClr val="94A3B8"/>
                </a:solidFill>
                <a:latin typeface="Inter"/>
              </a:rPr>
              <a:t>Build a clean, modular Python architecture backed by automated Pytest suites and Git version control.</a:t>
            </a:r>
          </a:p>
        </p:txBody>
      </p:sp>
      <p:pic>
        <p:nvPicPr>
          <p:cNvPr id="13" name="Picture 12" descr="image.png"/>
          <p:cNvPicPr>
            <a:picLocks noChangeAspect="1"/>
          </p:cNvPicPr>
          <p:nvPr/>
        </p:nvPicPr>
        <p:blipFill>
          <a:blip r:embed="rId6"/>
          <a:stretch>
            <a:fillRect/>
          </a:stretch>
        </p:blipFill>
        <p:spPr>
          <a:xfrm>
            <a:off x="1162050" y="2424112"/>
            <a:ext cx="381000" cy="381000"/>
          </a:xfrm>
          <a:prstGeom prst="rect">
            <a:avLst/>
          </a:prstGeom>
        </p:spPr>
      </p:pic>
      <p:pic>
        <p:nvPicPr>
          <p:cNvPr id="14" name="Picture 13" descr="image.png"/>
          <p:cNvPicPr>
            <a:picLocks noChangeAspect="1"/>
          </p:cNvPicPr>
          <p:nvPr/>
        </p:nvPicPr>
        <p:blipFill>
          <a:blip r:embed="rId7"/>
          <a:stretch>
            <a:fillRect/>
          </a:stretch>
        </p:blipFill>
        <p:spPr>
          <a:xfrm>
            <a:off x="4838700" y="2424112"/>
            <a:ext cx="381000" cy="381000"/>
          </a:xfrm>
          <a:prstGeom prst="rect">
            <a:avLst/>
          </a:prstGeom>
        </p:spPr>
      </p:pic>
      <p:pic>
        <p:nvPicPr>
          <p:cNvPr id="15" name="Picture 14" descr="image.png"/>
          <p:cNvPicPr>
            <a:picLocks noChangeAspect="1"/>
          </p:cNvPicPr>
          <p:nvPr/>
        </p:nvPicPr>
        <p:blipFill>
          <a:blip r:embed="rId8"/>
          <a:stretch>
            <a:fillRect/>
          </a:stretch>
        </p:blipFill>
        <p:spPr>
          <a:xfrm>
            <a:off x="8515350" y="2424112"/>
            <a:ext cx="476250" cy="381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81750" y="1719262"/>
            <a:ext cx="5038725" cy="4381500"/>
          </a:xfrm>
          <a:prstGeom prst="rect">
            <a:avLst/>
          </a:prstGeom>
        </p:spPr>
      </p:pic>
      <p:sp>
        <p:nvSpPr>
          <p:cNvPr id="4" name="TextBox 3"/>
          <p:cNvSpPr txBox="1"/>
          <p:nvPr/>
        </p:nvSpPr>
        <p:spPr>
          <a:xfrm>
            <a:off x="771525" y="581025"/>
            <a:ext cx="11181397" cy="581025"/>
          </a:xfrm>
          <a:prstGeom prst="rect">
            <a:avLst/>
          </a:prstGeom>
          <a:noFill/>
        </p:spPr>
        <p:txBody>
          <a:bodyPr wrap="square" lIns="0" tIns="0" rIns="0" bIns="0" anchor="t">
            <a:spAutoFit/>
          </a:bodyPr>
          <a:lstStyle/>
          <a:p>
            <a:pPr algn="l"/>
            <a:r>
              <a:rPr sz="3600" b="0" i="0" u="none">
                <a:solidFill>
                  <a:srgbClr val="F8FAFC"/>
                </a:solidFill>
                <a:latin typeface="Space Grotesk SemiBold"/>
              </a:rPr>
              <a:t>Technology </a:t>
            </a:r>
            <a:r>
              <a:rPr sz="3600" b="0" i="0" u="none">
                <a:solidFill>
                  <a:srgbClr val="0EA5E9"/>
                </a:solidFill>
                <a:latin typeface="Space Grotesk SemiBold"/>
              </a:rPr>
              <a:t>Stack</a:t>
            </a:r>
          </a:p>
        </p:txBody>
      </p:sp>
      <p:sp>
        <p:nvSpPr>
          <p:cNvPr id="5" name="TextBox 4"/>
          <p:cNvSpPr txBox="1"/>
          <p:nvPr/>
        </p:nvSpPr>
        <p:spPr>
          <a:xfrm>
            <a:off x="771525" y="1719262"/>
            <a:ext cx="5290661" cy="247650"/>
          </a:xfrm>
          <a:prstGeom prst="rect">
            <a:avLst/>
          </a:prstGeom>
          <a:noFill/>
        </p:spPr>
        <p:txBody>
          <a:bodyPr wrap="square" lIns="0" tIns="0" rIns="0" bIns="0" anchor="t">
            <a:spAutoFit/>
          </a:bodyPr>
          <a:lstStyle/>
          <a:p>
            <a:pPr algn="l"/>
            <a:r>
              <a:rPr sz="1500" b="1" i="0" u="none">
                <a:solidFill>
                  <a:srgbClr val="0EA5E9"/>
                </a:solidFill>
                <a:latin typeface="Space Grotesk"/>
              </a:rPr>
              <a:t>LANGUAGE &amp; CORE</a:t>
            </a:r>
          </a:p>
        </p:txBody>
      </p:sp>
      <p:sp>
        <p:nvSpPr>
          <p:cNvPr id="6" name="TextBox 5"/>
          <p:cNvSpPr txBox="1"/>
          <p:nvPr/>
        </p:nvSpPr>
        <p:spPr>
          <a:xfrm>
            <a:off x="771525" y="4157662"/>
            <a:ext cx="5290661" cy="247650"/>
          </a:xfrm>
          <a:prstGeom prst="rect">
            <a:avLst/>
          </a:prstGeom>
          <a:noFill/>
        </p:spPr>
        <p:txBody>
          <a:bodyPr wrap="square" lIns="0" tIns="0" rIns="0" bIns="0" anchor="t">
            <a:spAutoFit/>
          </a:bodyPr>
          <a:lstStyle/>
          <a:p>
            <a:pPr algn="l"/>
            <a:r>
              <a:rPr sz="1500" b="1" i="0" u="none">
                <a:solidFill>
                  <a:srgbClr val="0EA5E9"/>
                </a:solidFill>
                <a:latin typeface="Space Grotesk"/>
              </a:rPr>
              <a:t>VISION &amp; TESTING</a:t>
            </a:r>
          </a:p>
        </p:txBody>
      </p:sp>
      <p:pic>
        <p:nvPicPr>
          <p:cNvPr id="7" name="Picture 6" descr="image.png"/>
          <p:cNvPicPr>
            <a:picLocks noChangeAspect="1"/>
          </p:cNvPicPr>
          <p:nvPr/>
        </p:nvPicPr>
        <p:blipFill>
          <a:blip r:embed="rId4"/>
          <a:stretch>
            <a:fillRect/>
          </a:stretch>
        </p:blipFill>
        <p:spPr>
          <a:xfrm>
            <a:off x="8401050" y="2704207"/>
            <a:ext cx="1000125" cy="1143000"/>
          </a:xfrm>
          <a:prstGeom prst="rect">
            <a:avLst/>
          </a:prstGeom>
        </p:spPr>
      </p:pic>
      <p:sp>
        <p:nvSpPr>
          <p:cNvPr id="8" name="TextBox 7"/>
          <p:cNvSpPr txBox="1"/>
          <p:nvPr/>
        </p:nvSpPr>
        <p:spPr>
          <a:xfrm>
            <a:off x="7115889" y="4132957"/>
            <a:ext cx="3570446" cy="352425"/>
          </a:xfrm>
          <a:prstGeom prst="rect">
            <a:avLst/>
          </a:prstGeom>
          <a:noFill/>
        </p:spPr>
        <p:txBody>
          <a:bodyPr wrap="square" lIns="0" tIns="0" rIns="0" bIns="0" anchor="t">
            <a:spAutoFit/>
          </a:bodyPr>
          <a:lstStyle/>
          <a:p>
            <a:pPr algn="ctr"/>
            <a:r>
              <a:rPr sz="2100" b="0" i="0" u="none">
                <a:solidFill>
                  <a:srgbClr val="F1F5F9"/>
                </a:solidFill>
                <a:latin typeface="JetBrains Mono SemiBold"/>
              </a:rPr>
              <a:t>Classical CV Approach</a:t>
            </a:r>
          </a:p>
        </p:txBody>
      </p:sp>
      <p:sp>
        <p:nvSpPr>
          <p:cNvPr id="9" name="TextBox 8"/>
          <p:cNvSpPr txBox="1"/>
          <p:nvPr/>
        </p:nvSpPr>
        <p:spPr>
          <a:xfrm>
            <a:off x="6772275" y="4628257"/>
            <a:ext cx="4257675" cy="487560"/>
          </a:xfrm>
          <a:prstGeom prst="rect">
            <a:avLst/>
          </a:prstGeom>
          <a:noFill/>
        </p:spPr>
        <p:txBody>
          <a:bodyPr wrap="square" lIns="0" tIns="0" rIns="0" bIns="0" anchor="t">
            <a:spAutoFit/>
          </a:bodyPr>
          <a:lstStyle/>
          <a:p>
            <a:pPr algn="ctr">
              <a:lnSpc>
                <a:spcPts val="1920"/>
              </a:lnSpc>
            </a:pPr>
            <a:r>
              <a:rPr sz="1200" b="0" i="0" u="none">
                <a:solidFill>
                  <a:srgbClr val="94A3B8"/>
                </a:solidFill>
                <a:latin typeface="Inter"/>
              </a:rPr>
              <a:t>Zero machine learning models. 100% deterministic pixel math.</a:t>
            </a:r>
          </a:p>
        </p:txBody>
      </p:sp>
      <p:sp>
        <p:nvSpPr>
          <p:cNvPr id="10" name="TextBox 9"/>
          <p:cNvSpPr txBox="1"/>
          <p:nvPr/>
        </p:nvSpPr>
        <p:spPr>
          <a:xfrm>
            <a:off x="1057275" y="2062162"/>
            <a:ext cx="4752975" cy="914400"/>
          </a:xfrm>
          <a:prstGeom prst="rect">
            <a:avLst/>
          </a:prstGeom>
          <a:noFill/>
        </p:spPr>
        <p:txBody>
          <a:bodyPr wrap="square" lIns="0" tIns="0" rIns="0" bIns="0" anchor="t">
            <a:spAutoFit/>
          </a:bodyPr>
          <a:lstStyle/>
          <a:p>
            <a:pPr algn="l">
              <a:lnSpc>
                <a:spcPts val="2400"/>
              </a:lnSpc>
            </a:pPr>
            <a:r>
              <a:rPr sz="1500" b="1" i="0" u="none">
                <a:solidFill>
                  <a:srgbClr val="FFFFFF"/>
                </a:solidFill>
                <a:latin typeface="Inter"/>
              </a:rPr>
              <a:t>Python 3:</a:t>
            </a:r>
            <a:r>
              <a:rPr sz="1500" b="0" i="0" u="none">
                <a:solidFill>
                  <a:srgbClr val="94A3B8"/>
                </a:solidFill>
                <a:latin typeface="Inter"/>
              </a:rPr>
              <a:t> The primary programming language, utilizing a virtual environment for dependency management.</a:t>
            </a:r>
          </a:p>
        </p:txBody>
      </p:sp>
      <p:sp>
        <p:nvSpPr>
          <p:cNvPr id="11" name="TextBox 10"/>
          <p:cNvSpPr txBox="1"/>
          <p:nvPr/>
        </p:nvSpPr>
        <p:spPr>
          <a:xfrm>
            <a:off x="1057275" y="3167062"/>
            <a:ext cx="4752975" cy="609600"/>
          </a:xfrm>
          <a:prstGeom prst="rect">
            <a:avLst/>
          </a:prstGeom>
          <a:noFill/>
        </p:spPr>
        <p:txBody>
          <a:bodyPr wrap="square" lIns="0" tIns="0" rIns="0" bIns="0" anchor="t">
            <a:spAutoFit/>
          </a:bodyPr>
          <a:lstStyle/>
          <a:p>
            <a:pPr algn="l">
              <a:lnSpc>
                <a:spcPts val="2400"/>
              </a:lnSpc>
            </a:pPr>
            <a:r>
              <a:rPr sz="1500" b="1" i="0" u="none">
                <a:solidFill>
                  <a:srgbClr val="FFFFFF"/>
                </a:solidFill>
                <a:latin typeface="Inter"/>
              </a:rPr>
              <a:t>NumPy:</a:t>
            </a:r>
            <a:r>
              <a:rPr sz="1500" b="0" i="0" u="none">
                <a:solidFill>
                  <a:srgbClr val="94A3B8"/>
                </a:solidFill>
                <a:latin typeface="Inter"/>
              </a:rPr>
              <a:t> Essential for matrix math and multi-dimensional image array processing.</a:t>
            </a:r>
          </a:p>
        </p:txBody>
      </p:sp>
      <p:sp>
        <p:nvSpPr>
          <p:cNvPr id="12" name="TextBox 11"/>
          <p:cNvSpPr txBox="1"/>
          <p:nvPr/>
        </p:nvSpPr>
        <p:spPr>
          <a:xfrm>
            <a:off x="1057275" y="4500562"/>
            <a:ext cx="4752975" cy="609600"/>
          </a:xfrm>
          <a:prstGeom prst="rect">
            <a:avLst/>
          </a:prstGeom>
          <a:noFill/>
        </p:spPr>
        <p:txBody>
          <a:bodyPr wrap="square" lIns="0" tIns="0" rIns="0" bIns="0" anchor="t">
            <a:spAutoFit/>
          </a:bodyPr>
          <a:lstStyle/>
          <a:p>
            <a:pPr algn="l">
              <a:lnSpc>
                <a:spcPts val="2400"/>
              </a:lnSpc>
            </a:pPr>
            <a:r>
              <a:rPr sz="1500" b="1" i="0" u="none">
                <a:solidFill>
                  <a:srgbClr val="FFFFFF"/>
                </a:solidFill>
                <a:latin typeface="Inter"/>
              </a:rPr>
              <a:t>OpenCV (cv2):</a:t>
            </a:r>
            <a:r>
              <a:rPr sz="1500" b="0" i="0" u="none">
                <a:solidFill>
                  <a:srgbClr val="94A3B8"/>
                </a:solidFill>
                <a:latin typeface="Inter"/>
              </a:rPr>
              <a:t> The engine for image capture, color space conversion, and morphological operations.</a:t>
            </a:r>
          </a:p>
        </p:txBody>
      </p:sp>
      <p:sp>
        <p:nvSpPr>
          <p:cNvPr id="13" name="TextBox 12"/>
          <p:cNvSpPr txBox="1"/>
          <p:nvPr/>
        </p:nvSpPr>
        <p:spPr>
          <a:xfrm>
            <a:off x="1057275" y="5300662"/>
            <a:ext cx="4752975" cy="609600"/>
          </a:xfrm>
          <a:prstGeom prst="rect">
            <a:avLst/>
          </a:prstGeom>
          <a:noFill/>
        </p:spPr>
        <p:txBody>
          <a:bodyPr wrap="square" lIns="0" tIns="0" rIns="0" bIns="0" anchor="t">
            <a:spAutoFit/>
          </a:bodyPr>
          <a:lstStyle/>
          <a:p>
            <a:pPr algn="l">
              <a:lnSpc>
                <a:spcPts val="2400"/>
              </a:lnSpc>
            </a:pPr>
            <a:r>
              <a:rPr sz="1500" b="1" i="0" u="none">
                <a:solidFill>
                  <a:srgbClr val="FFFFFF"/>
                </a:solidFill>
                <a:latin typeface="Inter"/>
              </a:rPr>
              <a:t>Pytest:</a:t>
            </a:r>
            <a:r>
              <a:rPr sz="1500" b="0" i="0" u="none">
                <a:solidFill>
                  <a:srgbClr val="94A3B8"/>
                </a:solidFill>
                <a:latin typeface="Inter"/>
              </a:rPr>
              <a:t> Used to validate core logic, configuration states, and mask generation mathematically.</a:t>
            </a:r>
          </a:p>
        </p:txBody>
      </p:sp>
      <p:sp>
        <p:nvSpPr>
          <p:cNvPr id="14" name="TextBox 13"/>
          <p:cNvSpPr txBox="1"/>
          <p:nvPr/>
        </p:nvSpPr>
        <p:spPr>
          <a:xfrm>
            <a:off x="771525" y="2062162"/>
            <a:ext cx="190500" cy="304800"/>
          </a:xfrm>
          <a:prstGeom prst="rect">
            <a:avLst/>
          </a:prstGeom>
          <a:noFill/>
        </p:spPr>
        <p:txBody>
          <a:bodyPr wrap="square" lIns="0" tIns="0" rIns="0" bIns="0" anchor="t">
            <a:spAutoFit/>
          </a:bodyPr>
          <a:lstStyle/>
          <a:p>
            <a:pPr algn="l">
              <a:lnSpc>
                <a:spcPts val="2400"/>
              </a:lnSpc>
            </a:pPr>
            <a:r>
              <a:rPr sz="1500" b="1" i="0" u="none">
                <a:solidFill>
                  <a:srgbClr val="0EA5E9"/>
                </a:solidFill>
                <a:latin typeface="JetBrains Mono"/>
              </a:rPr>
              <a:t>→</a:t>
            </a:r>
          </a:p>
        </p:txBody>
      </p:sp>
      <p:sp>
        <p:nvSpPr>
          <p:cNvPr id="15" name="TextBox 14"/>
          <p:cNvSpPr txBox="1"/>
          <p:nvPr/>
        </p:nvSpPr>
        <p:spPr>
          <a:xfrm>
            <a:off x="771525" y="3167062"/>
            <a:ext cx="190500" cy="304800"/>
          </a:xfrm>
          <a:prstGeom prst="rect">
            <a:avLst/>
          </a:prstGeom>
          <a:noFill/>
        </p:spPr>
        <p:txBody>
          <a:bodyPr wrap="square" lIns="0" tIns="0" rIns="0" bIns="0" anchor="t">
            <a:spAutoFit/>
          </a:bodyPr>
          <a:lstStyle/>
          <a:p>
            <a:pPr algn="l">
              <a:lnSpc>
                <a:spcPts val="2400"/>
              </a:lnSpc>
            </a:pPr>
            <a:r>
              <a:rPr sz="1500" b="1" i="0" u="none">
                <a:solidFill>
                  <a:srgbClr val="0EA5E9"/>
                </a:solidFill>
                <a:latin typeface="JetBrains Mono"/>
              </a:rPr>
              <a:t>→</a:t>
            </a:r>
          </a:p>
        </p:txBody>
      </p:sp>
      <p:sp>
        <p:nvSpPr>
          <p:cNvPr id="16" name="TextBox 15"/>
          <p:cNvSpPr txBox="1"/>
          <p:nvPr/>
        </p:nvSpPr>
        <p:spPr>
          <a:xfrm>
            <a:off x="771525" y="4500562"/>
            <a:ext cx="190500" cy="304800"/>
          </a:xfrm>
          <a:prstGeom prst="rect">
            <a:avLst/>
          </a:prstGeom>
          <a:noFill/>
        </p:spPr>
        <p:txBody>
          <a:bodyPr wrap="square" lIns="0" tIns="0" rIns="0" bIns="0" anchor="t">
            <a:spAutoFit/>
          </a:bodyPr>
          <a:lstStyle/>
          <a:p>
            <a:pPr algn="l">
              <a:lnSpc>
                <a:spcPts val="2400"/>
              </a:lnSpc>
            </a:pPr>
            <a:r>
              <a:rPr sz="1500" b="1" i="0" u="none">
                <a:solidFill>
                  <a:srgbClr val="0EA5E9"/>
                </a:solidFill>
                <a:latin typeface="JetBrains Mono"/>
              </a:rPr>
              <a:t>→</a:t>
            </a:r>
          </a:p>
        </p:txBody>
      </p:sp>
      <p:sp>
        <p:nvSpPr>
          <p:cNvPr id="17" name="TextBox 16"/>
          <p:cNvSpPr txBox="1"/>
          <p:nvPr/>
        </p:nvSpPr>
        <p:spPr>
          <a:xfrm>
            <a:off x="771525" y="5300662"/>
            <a:ext cx="190500" cy="304800"/>
          </a:xfrm>
          <a:prstGeom prst="rect">
            <a:avLst/>
          </a:prstGeom>
          <a:noFill/>
        </p:spPr>
        <p:txBody>
          <a:bodyPr wrap="square" lIns="0" tIns="0" rIns="0" bIns="0" anchor="t">
            <a:spAutoFit/>
          </a:bodyPr>
          <a:lstStyle/>
          <a:p>
            <a:pPr algn="l">
              <a:lnSpc>
                <a:spcPts val="2400"/>
              </a:lnSpc>
            </a:pPr>
            <a:r>
              <a:rPr sz="1500" b="1" i="0" u="none">
                <a:solidFill>
                  <a:srgbClr val="0EA5E9"/>
                </a:solidFill>
                <a:latin typeface="JetBrains Mono"/>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619750" y="3693765"/>
            <a:ext cx="952500" cy="38100"/>
          </a:xfrm>
          <a:prstGeom prst="rect">
            <a:avLst/>
          </a:prstGeom>
        </p:spPr>
      </p:pic>
      <p:sp>
        <p:nvSpPr>
          <p:cNvPr id="4" name="TextBox 3"/>
          <p:cNvSpPr txBox="1"/>
          <p:nvPr/>
        </p:nvSpPr>
        <p:spPr>
          <a:xfrm>
            <a:off x="5325903" y="2188815"/>
            <a:ext cx="1540192" cy="247650"/>
          </a:xfrm>
          <a:prstGeom prst="rect">
            <a:avLst/>
          </a:prstGeom>
          <a:noFill/>
        </p:spPr>
        <p:txBody>
          <a:bodyPr wrap="square" lIns="0" tIns="0" rIns="0" bIns="0" anchor="t">
            <a:spAutoFit/>
          </a:bodyPr>
          <a:lstStyle/>
          <a:p>
            <a:pPr algn="ctr"/>
            <a:r>
              <a:rPr sz="1500" b="1" i="0" u="none">
                <a:solidFill>
                  <a:srgbClr val="0EA5E9"/>
                </a:solidFill>
                <a:latin typeface="Space Grotesk"/>
              </a:rPr>
              <a:t>ARCHITECTURE</a:t>
            </a:r>
          </a:p>
        </p:txBody>
      </p:sp>
      <p:sp>
        <p:nvSpPr>
          <p:cNvPr id="5" name="TextBox 4"/>
          <p:cNvSpPr txBox="1"/>
          <p:nvPr/>
        </p:nvSpPr>
        <p:spPr>
          <a:xfrm>
            <a:off x="2435542" y="2531715"/>
            <a:ext cx="7320915" cy="781050"/>
          </a:xfrm>
          <a:prstGeom prst="rect">
            <a:avLst/>
          </a:prstGeom>
          <a:noFill/>
        </p:spPr>
        <p:txBody>
          <a:bodyPr wrap="square" lIns="0" tIns="0" rIns="0" bIns="0" anchor="t">
            <a:spAutoFit/>
          </a:bodyPr>
          <a:lstStyle/>
          <a:p>
            <a:pPr algn="ctr"/>
            <a:r>
              <a:rPr sz="4800" b="0" i="0" u="none">
                <a:solidFill>
                  <a:srgbClr val="F8FAFC"/>
                </a:solidFill>
                <a:latin typeface="Space Grotesk SemiBold"/>
              </a:rPr>
              <a:t>The Processing Pipeline</a:t>
            </a:r>
          </a:p>
        </p:txBody>
      </p:sp>
      <p:sp>
        <p:nvSpPr>
          <p:cNvPr id="6" name="TextBox 5"/>
          <p:cNvSpPr txBox="1"/>
          <p:nvPr/>
        </p:nvSpPr>
        <p:spPr>
          <a:xfrm>
            <a:off x="2533650" y="4303365"/>
            <a:ext cx="7124700" cy="365670"/>
          </a:xfrm>
          <a:prstGeom prst="rect">
            <a:avLst/>
          </a:prstGeom>
          <a:noFill/>
        </p:spPr>
        <p:txBody>
          <a:bodyPr wrap="square" lIns="0" tIns="0" rIns="0" bIns="0" anchor="t">
            <a:spAutoFit/>
          </a:bodyPr>
          <a:lstStyle/>
          <a:p>
            <a:pPr algn="ctr">
              <a:lnSpc>
                <a:spcPts val="2879"/>
              </a:lnSpc>
            </a:pPr>
            <a:r>
              <a:rPr sz="1800" b="0" i="0" u="none">
                <a:solidFill>
                  <a:srgbClr val="CBD5E1"/>
                </a:solidFill>
                <a:latin typeface="Inter"/>
              </a:rPr>
              <a:t>How frames are manipulated mathematically to create the illusion.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71525" y="581025"/>
            <a:ext cx="11181397" cy="581025"/>
          </a:xfrm>
          <a:prstGeom prst="rect">
            <a:avLst/>
          </a:prstGeom>
          <a:noFill/>
        </p:spPr>
        <p:txBody>
          <a:bodyPr wrap="square" lIns="0" tIns="0" rIns="0" bIns="0" anchor="t">
            <a:spAutoFit/>
          </a:bodyPr>
          <a:lstStyle/>
          <a:p>
            <a:pPr algn="l"/>
            <a:r>
              <a:rPr sz="3600" b="0" i="0" u="none">
                <a:solidFill>
                  <a:srgbClr val="F8FAFC"/>
                </a:solidFill>
                <a:latin typeface="Space Grotesk SemiBold"/>
              </a:rPr>
              <a:t>Frame Processing </a:t>
            </a:r>
            <a:r>
              <a:rPr sz="3600" b="0" i="0" u="none">
                <a:solidFill>
                  <a:srgbClr val="8B5CF6"/>
                </a:solidFill>
                <a:latin typeface="Space Grotesk SemiBold"/>
              </a:rPr>
              <a:t>Architecture</a:t>
            </a:r>
          </a:p>
        </p:txBody>
      </p:sp>
      <p:sp>
        <p:nvSpPr>
          <p:cNvPr id="4" name="Rectangle 3"/>
          <p:cNvSpPr/>
          <p:nvPr/>
        </p:nvSpPr>
        <p:spPr>
          <a:xfrm>
            <a:off x="771525" y="4138612"/>
            <a:ext cx="10648950" cy="19050"/>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722090" y="4033837"/>
            <a:ext cx="228600" cy="228600"/>
          </a:xfrm>
          <a:prstGeom prst="roundRect">
            <a:avLst>
              <a:gd name="adj" fmla="val 50000"/>
            </a:avLst>
          </a:prstGeom>
          <a:solidFill>
            <a:srgbClr val="09090B"/>
          </a:solidFill>
          <a:ln w="381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851820" y="4033837"/>
            <a:ext cx="228600" cy="228600"/>
          </a:xfrm>
          <a:prstGeom prst="roundRect">
            <a:avLst>
              <a:gd name="adj" fmla="val 50000"/>
            </a:avLst>
          </a:prstGeom>
          <a:solidFill>
            <a:srgbClr val="09090B"/>
          </a:solidFill>
          <a:ln w="381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981551" y="4033837"/>
            <a:ext cx="228600" cy="228600"/>
          </a:xfrm>
          <a:prstGeom prst="roundRect">
            <a:avLst>
              <a:gd name="adj" fmla="val 50000"/>
            </a:avLst>
          </a:prstGeom>
          <a:solidFill>
            <a:srgbClr val="09090B"/>
          </a:solidFill>
          <a:ln w="381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111281" y="4033837"/>
            <a:ext cx="228600" cy="228600"/>
          </a:xfrm>
          <a:prstGeom prst="roundRect">
            <a:avLst>
              <a:gd name="adj" fmla="val 50000"/>
            </a:avLst>
          </a:prstGeom>
          <a:solidFill>
            <a:srgbClr val="09090B"/>
          </a:solidFill>
          <a:ln w="381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0241012" y="4033837"/>
            <a:ext cx="228600" cy="228600"/>
          </a:xfrm>
          <a:prstGeom prst="roundRect">
            <a:avLst>
              <a:gd name="adj" fmla="val 50000"/>
            </a:avLst>
          </a:prstGeom>
          <a:solidFill>
            <a:srgbClr val="09090B"/>
          </a:solidFill>
          <a:ln w="381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4660" y="3050976"/>
            <a:ext cx="2683460" cy="247650"/>
          </a:xfrm>
          <a:prstGeom prst="rect">
            <a:avLst/>
          </a:prstGeom>
          <a:noFill/>
        </p:spPr>
        <p:txBody>
          <a:bodyPr wrap="square" lIns="0" tIns="0" rIns="0" bIns="0" anchor="t">
            <a:spAutoFit/>
          </a:bodyPr>
          <a:lstStyle/>
          <a:p>
            <a:pPr algn="ctr"/>
            <a:r>
              <a:rPr sz="1500" b="0" i="0" u="none">
                <a:solidFill>
                  <a:srgbClr val="F8FAFC"/>
                </a:solidFill>
                <a:latin typeface="Space Grotesk SemiBold"/>
              </a:rPr>
              <a:t>1. Capture</a:t>
            </a:r>
          </a:p>
        </p:txBody>
      </p:sp>
      <p:sp>
        <p:nvSpPr>
          <p:cNvPr id="11" name="TextBox 10"/>
          <p:cNvSpPr txBox="1"/>
          <p:nvPr/>
        </p:nvSpPr>
        <p:spPr>
          <a:xfrm>
            <a:off x="558551" y="3374826"/>
            <a:ext cx="2555676" cy="487560"/>
          </a:xfrm>
          <a:prstGeom prst="rect">
            <a:avLst/>
          </a:prstGeom>
          <a:noFill/>
        </p:spPr>
        <p:txBody>
          <a:bodyPr wrap="square" lIns="0" tIns="0" rIns="0" bIns="0" anchor="t">
            <a:spAutoFit/>
          </a:bodyPr>
          <a:lstStyle/>
          <a:p>
            <a:pPr algn="ctr">
              <a:lnSpc>
                <a:spcPts val="1920"/>
              </a:lnSpc>
            </a:pPr>
            <a:r>
              <a:rPr sz="1200" b="0" i="0" u="none">
                <a:solidFill>
                  <a:srgbClr val="94A3B8"/>
                </a:solidFill>
                <a:latin typeface="Inter"/>
              </a:rPr>
              <a:t>Save static clean background frame.</a:t>
            </a:r>
          </a:p>
        </p:txBody>
      </p:sp>
      <p:sp>
        <p:nvSpPr>
          <p:cNvPr id="12" name="TextBox 11"/>
          <p:cNvSpPr txBox="1"/>
          <p:nvPr/>
        </p:nvSpPr>
        <p:spPr>
          <a:xfrm>
            <a:off x="2624390" y="4433887"/>
            <a:ext cx="2683460" cy="247650"/>
          </a:xfrm>
          <a:prstGeom prst="rect">
            <a:avLst/>
          </a:prstGeom>
          <a:noFill/>
        </p:spPr>
        <p:txBody>
          <a:bodyPr wrap="square" lIns="0" tIns="0" rIns="0" bIns="0" anchor="t">
            <a:spAutoFit/>
          </a:bodyPr>
          <a:lstStyle/>
          <a:p>
            <a:pPr algn="ctr"/>
            <a:r>
              <a:rPr sz="1500" b="0" i="0" u="none">
                <a:solidFill>
                  <a:srgbClr val="F8FAFC"/>
                </a:solidFill>
                <a:latin typeface="Space Grotesk SemiBold"/>
              </a:rPr>
              <a:t>2. Convert</a:t>
            </a:r>
          </a:p>
        </p:txBody>
      </p:sp>
      <p:sp>
        <p:nvSpPr>
          <p:cNvPr id="13" name="TextBox 12"/>
          <p:cNvSpPr txBox="1"/>
          <p:nvPr/>
        </p:nvSpPr>
        <p:spPr>
          <a:xfrm>
            <a:off x="2688282" y="4757737"/>
            <a:ext cx="2555676" cy="487560"/>
          </a:xfrm>
          <a:prstGeom prst="rect">
            <a:avLst/>
          </a:prstGeom>
          <a:noFill/>
        </p:spPr>
        <p:txBody>
          <a:bodyPr wrap="square" lIns="0" tIns="0" rIns="0" bIns="0" anchor="t">
            <a:spAutoFit/>
          </a:bodyPr>
          <a:lstStyle/>
          <a:p>
            <a:pPr algn="ctr">
              <a:lnSpc>
                <a:spcPts val="1920"/>
              </a:lnSpc>
            </a:pPr>
            <a:r>
              <a:rPr sz="1200" b="0" i="0" u="none">
                <a:solidFill>
                  <a:srgbClr val="94A3B8"/>
                </a:solidFill>
                <a:latin typeface="Inter"/>
              </a:rPr>
              <a:t>Live Frame: BGR to HSV color space.</a:t>
            </a:r>
          </a:p>
        </p:txBody>
      </p:sp>
      <p:sp>
        <p:nvSpPr>
          <p:cNvPr id="14" name="TextBox 13"/>
          <p:cNvSpPr txBox="1"/>
          <p:nvPr/>
        </p:nvSpPr>
        <p:spPr>
          <a:xfrm>
            <a:off x="4754120" y="3050976"/>
            <a:ext cx="2683460" cy="247650"/>
          </a:xfrm>
          <a:prstGeom prst="rect">
            <a:avLst/>
          </a:prstGeom>
          <a:noFill/>
        </p:spPr>
        <p:txBody>
          <a:bodyPr wrap="square" lIns="0" tIns="0" rIns="0" bIns="0" anchor="t">
            <a:spAutoFit/>
          </a:bodyPr>
          <a:lstStyle/>
          <a:p>
            <a:pPr algn="ctr"/>
            <a:r>
              <a:rPr sz="1500" b="0" i="0" u="none">
                <a:solidFill>
                  <a:srgbClr val="F8FAFC"/>
                </a:solidFill>
                <a:latin typeface="Space Grotesk SemiBold"/>
              </a:rPr>
              <a:t>3. Segment</a:t>
            </a:r>
          </a:p>
        </p:txBody>
      </p:sp>
      <p:sp>
        <p:nvSpPr>
          <p:cNvPr id="15" name="TextBox 14"/>
          <p:cNvSpPr txBox="1"/>
          <p:nvPr/>
        </p:nvSpPr>
        <p:spPr>
          <a:xfrm>
            <a:off x="4818012" y="3374826"/>
            <a:ext cx="2555676" cy="487560"/>
          </a:xfrm>
          <a:prstGeom prst="rect">
            <a:avLst/>
          </a:prstGeom>
          <a:noFill/>
        </p:spPr>
        <p:txBody>
          <a:bodyPr wrap="square" lIns="0" tIns="0" rIns="0" bIns="0" anchor="t">
            <a:spAutoFit/>
          </a:bodyPr>
          <a:lstStyle/>
          <a:p>
            <a:pPr algn="ctr">
              <a:lnSpc>
                <a:spcPts val="1920"/>
              </a:lnSpc>
            </a:pPr>
            <a:r>
              <a:rPr sz="1200" b="0" i="0" u="none">
                <a:solidFill>
                  <a:srgbClr val="94A3B8"/>
                </a:solidFill>
                <a:latin typeface="Inter"/>
              </a:rPr>
              <a:t>Apply color thresholds to build a binary mask.</a:t>
            </a:r>
          </a:p>
        </p:txBody>
      </p:sp>
      <p:sp>
        <p:nvSpPr>
          <p:cNvPr id="16" name="TextBox 15"/>
          <p:cNvSpPr txBox="1"/>
          <p:nvPr/>
        </p:nvSpPr>
        <p:spPr>
          <a:xfrm>
            <a:off x="6883851" y="4433887"/>
            <a:ext cx="2683460" cy="247650"/>
          </a:xfrm>
          <a:prstGeom prst="rect">
            <a:avLst/>
          </a:prstGeom>
          <a:noFill/>
        </p:spPr>
        <p:txBody>
          <a:bodyPr wrap="square" lIns="0" tIns="0" rIns="0" bIns="0" anchor="t">
            <a:spAutoFit/>
          </a:bodyPr>
          <a:lstStyle/>
          <a:p>
            <a:pPr algn="ctr"/>
            <a:r>
              <a:rPr sz="1500" b="0" i="0" u="none">
                <a:solidFill>
                  <a:srgbClr val="F8FAFC"/>
                </a:solidFill>
                <a:latin typeface="Space Grotesk SemiBold"/>
              </a:rPr>
              <a:t>4. Refine</a:t>
            </a:r>
          </a:p>
        </p:txBody>
      </p:sp>
      <p:sp>
        <p:nvSpPr>
          <p:cNvPr id="17" name="TextBox 16"/>
          <p:cNvSpPr txBox="1"/>
          <p:nvPr/>
        </p:nvSpPr>
        <p:spPr>
          <a:xfrm>
            <a:off x="6947743" y="4757737"/>
            <a:ext cx="2555676" cy="487560"/>
          </a:xfrm>
          <a:prstGeom prst="rect">
            <a:avLst/>
          </a:prstGeom>
          <a:noFill/>
        </p:spPr>
        <p:txBody>
          <a:bodyPr wrap="square" lIns="0" tIns="0" rIns="0" bIns="0" anchor="t">
            <a:spAutoFit/>
          </a:bodyPr>
          <a:lstStyle/>
          <a:p>
            <a:pPr algn="ctr">
              <a:lnSpc>
                <a:spcPts val="1920"/>
              </a:lnSpc>
            </a:pPr>
            <a:r>
              <a:rPr sz="1200" b="0" i="0" u="none">
                <a:solidFill>
                  <a:srgbClr val="94A3B8"/>
                </a:solidFill>
                <a:latin typeface="Inter"/>
              </a:rPr>
              <a:t>Morphological dilation &amp; noise removal.</a:t>
            </a:r>
          </a:p>
        </p:txBody>
      </p:sp>
      <p:sp>
        <p:nvSpPr>
          <p:cNvPr id="18" name="TextBox 17"/>
          <p:cNvSpPr txBox="1"/>
          <p:nvPr/>
        </p:nvSpPr>
        <p:spPr>
          <a:xfrm>
            <a:off x="9013581" y="3050976"/>
            <a:ext cx="2683460" cy="247650"/>
          </a:xfrm>
          <a:prstGeom prst="rect">
            <a:avLst/>
          </a:prstGeom>
          <a:noFill/>
        </p:spPr>
        <p:txBody>
          <a:bodyPr wrap="square" lIns="0" tIns="0" rIns="0" bIns="0" anchor="t">
            <a:spAutoFit/>
          </a:bodyPr>
          <a:lstStyle/>
          <a:p>
            <a:pPr algn="ctr"/>
            <a:r>
              <a:rPr sz="1500" b="0" i="0" u="none">
                <a:solidFill>
                  <a:srgbClr val="F8FAFC"/>
                </a:solidFill>
                <a:latin typeface="Space Grotesk SemiBold"/>
              </a:rPr>
              <a:t>5. Composite</a:t>
            </a:r>
          </a:p>
        </p:txBody>
      </p:sp>
      <p:sp>
        <p:nvSpPr>
          <p:cNvPr id="19" name="TextBox 18"/>
          <p:cNvSpPr txBox="1"/>
          <p:nvPr/>
        </p:nvSpPr>
        <p:spPr>
          <a:xfrm>
            <a:off x="9077473" y="3374826"/>
            <a:ext cx="2555676" cy="487560"/>
          </a:xfrm>
          <a:prstGeom prst="rect">
            <a:avLst/>
          </a:prstGeom>
          <a:noFill/>
        </p:spPr>
        <p:txBody>
          <a:bodyPr wrap="square" lIns="0" tIns="0" rIns="0" bIns="0" anchor="t">
            <a:spAutoFit/>
          </a:bodyPr>
          <a:lstStyle/>
          <a:p>
            <a:pPr algn="ctr">
              <a:lnSpc>
                <a:spcPts val="1920"/>
              </a:lnSpc>
            </a:pPr>
            <a:r>
              <a:rPr sz="1200" b="0" i="0" u="none">
                <a:solidFill>
                  <a:srgbClr val="94A3B8"/>
                </a:solidFill>
                <a:latin typeface="Inter"/>
              </a:rPr>
              <a:t>Bitwise operations to merge bg + live frame.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81750" y="1976437"/>
            <a:ext cx="5038725" cy="3867150"/>
          </a:xfrm>
          <a:prstGeom prst="rect">
            <a:avLst/>
          </a:prstGeom>
        </p:spPr>
      </p:pic>
      <p:pic>
        <p:nvPicPr>
          <p:cNvPr id="4" name="Picture 3" descr="image.png"/>
          <p:cNvPicPr>
            <a:picLocks noChangeAspect="1"/>
          </p:cNvPicPr>
          <p:nvPr/>
        </p:nvPicPr>
        <p:blipFill>
          <a:blip r:embed="rId4"/>
          <a:stretch>
            <a:fillRect/>
          </a:stretch>
        </p:blipFill>
        <p:spPr>
          <a:xfrm>
            <a:off x="771525" y="4624387"/>
            <a:ext cx="5038725" cy="1219200"/>
          </a:xfrm>
          <a:prstGeom prst="rect">
            <a:avLst/>
          </a:prstGeom>
        </p:spPr>
      </p:pic>
      <p:sp>
        <p:nvSpPr>
          <p:cNvPr id="5" name="TextBox 4"/>
          <p:cNvSpPr txBox="1"/>
          <p:nvPr/>
        </p:nvSpPr>
        <p:spPr>
          <a:xfrm>
            <a:off x="771525" y="581025"/>
            <a:ext cx="11181397" cy="581025"/>
          </a:xfrm>
          <a:prstGeom prst="rect">
            <a:avLst/>
          </a:prstGeom>
          <a:noFill/>
        </p:spPr>
        <p:txBody>
          <a:bodyPr wrap="square" lIns="0" tIns="0" rIns="0" bIns="0" anchor="t">
            <a:spAutoFit/>
          </a:bodyPr>
          <a:lstStyle/>
          <a:p>
            <a:pPr algn="l"/>
            <a:r>
              <a:rPr sz="3600" b="0" i="0" u="none">
                <a:solidFill>
                  <a:srgbClr val="F8FAFC"/>
                </a:solidFill>
                <a:latin typeface="Space Grotesk SemiBold"/>
              </a:rPr>
              <a:t>Color Segmentation: </a:t>
            </a:r>
            <a:r>
              <a:rPr sz="3600" b="0" i="0" u="none">
                <a:solidFill>
                  <a:srgbClr val="0EA5E9"/>
                </a:solidFill>
                <a:latin typeface="Space Grotesk SemiBold"/>
              </a:rPr>
              <a:t>BGR to HSV</a:t>
            </a:r>
          </a:p>
        </p:txBody>
      </p:sp>
      <p:sp>
        <p:nvSpPr>
          <p:cNvPr id="6" name="TextBox 5"/>
          <p:cNvSpPr txBox="1"/>
          <p:nvPr/>
        </p:nvSpPr>
        <p:spPr>
          <a:xfrm>
            <a:off x="771525" y="1976437"/>
            <a:ext cx="5038725" cy="1219200"/>
          </a:xfrm>
          <a:prstGeom prst="rect">
            <a:avLst/>
          </a:prstGeom>
          <a:noFill/>
        </p:spPr>
        <p:txBody>
          <a:bodyPr wrap="square" lIns="0" tIns="0" rIns="0" bIns="0" anchor="t">
            <a:spAutoFit/>
          </a:bodyPr>
          <a:lstStyle/>
          <a:p>
            <a:pPr algn="l">
              <a:lnSpc>
                <a:spcPts val="2400"/>
              </a:lnSpc>
            </a:pPr>
            <a:r>
              <a:rPr sz="1500" b="0" i="0" u="none">
                <a:solidFill>
                  <a:srgbClr val="94A3B8"/>
                </a:solidFill>
                <a:latin typeface="Inter"/>
              </a:rPr>
              <a:t>Standard BGR (Blue, Green, Red) is highly sensitive to lighting changes. We convert to </a:t>
            </a:r>
            <a:r>
              <a:rPr sz="1500" b="1" i="0" u="none">
                <a:solidFill>
                  <a:srgbClr val="94A3B8"/>
                </a:solidFill>
                <a:latin typeface="Inter"/>
              </a:rPr>
              <a:t>HSV (Hue, Saturation, Value)</a:t>
            </a:r>
            <a:r>
              <a:rPr sz="1500" b="0" i="0" u="none">
                <a:solidFill>
                  <a:srgbClr val="94A3B8"/>
                </a:solidFill>
                <a:latin typeface="Inter"/>
              </a:rPr>
              <a:t> to isolate color (Hue) from lighting intensity (Value).</a:t>
            </a:r>
          </a:p>
        </p:txBody>
      </p:sp>
      <p:sp>
        <p:nvSpPr>
          <p:cNvPr id="7" name="TextBox 6"/>
          <p:cNvSpPr txBox="1"/>
          <p:nvPr/>
        </p:nvSpPr>
        <p:spPr>
          <a:xfrm>
            <a:off x="771525" y="3481387"/>
            <a:ext cx="5290661" cy="247650"/>
          </a:xfrm>
          <a:prstGeom prst="rect">
            <a:avLst/>
          </a:prstGeom>
          <a:noFill/>
        </p:spPr>
        <p:txBody>
          <a:bodyPr wrap="square" lIns="0" tIns="0" rIns="0" bIns="0" anchor="t">
            <a:spAutoFit/>
          </a:bodyPr>
          <a:lstStyle/>
          <a:p>
            <a:pPr algn="l"/>
            <a:r>
              <a:rPr sz="1500" b="1" i="0" u="none">
                <a:solidFill>
                  <a:srgbClr val="0EA5E9"/>
                </a:solidFill>
                <a:latin typeface="Space Grotesk"/>
              </a:rPr>
              <a:t>THE "RED" PROBLEM</a:t>
            </a:r>
          </a:p>
        </p:txBody>
      </p:sp>
      <p:sp>
        <p:nvSpPr>
          <p:cNvPr id="8" name="TextBox 7"/>
          <p:cNvSpPr txBox="1"/>
          <p:nvPr/>
        </p:nvSpPr>
        <p:spPr>
          <a:xfrm>
            <a:off x="771525" y="3824287"/>
            <a:ext cx="5038725" cy="609600"/>
          </a:xfrm>
          <a:prstGeom prst="rect">
            <a:avLst/>
          </a:prstGeom>
          <a:noFill/>
        </p:spPr>
        <p:txBody>
          <a:bodyPr wrap="square" lIns="0" tIns="0" rIns="0" bIns="0" anchor="t">
            <a:spAutoFit/>
          </a:bodyPr>
          <a:lstStyle/>
          <a:p>
            <a:pPr algn="l">
              <a:lnSpc>
                <a:spcPts val="2400"/>
              </a:lnSpc>
            </a:pPr>
            <a:r>
              <a:rPr sz="1500" b="0" i="0" u="none">
                <a:solidFill>
                  <a:srgbClr val="94A3B8"/>
                </a:solidFill>
                <a:latin typeface="Inter"/>
              </a:rPr>
              <a:t>In OpenCV, Hue goes from 0-180. The color red sits exactly on the boundary, requiring two distinct ranges.</a:t>
            </a:r>
          </a:p>
        </p:txBody>
      </p:sp>
      <p:pic>
        <p:nvPicPr>
          <p:cNvPr id="9" name="Picture 8" descr="image.png"/>
          <p:cNvPicPr>
            <a:picLocks noChangeAspect="1"/>
          </p:cNvPicPr>
          <p:nvPr/>
        </p:nvPicPr>
        <p:blipFill>
          <a:blip r:embed="rId5"/>
          <a:stretch>
            <a:fillRect/>
          </a:stretch>
        </p:blipFill>
        <p:spPr>
          <a:xfrm>
            <a:off x="6391275" y="1985962"/>
            <a:ext cx="5019675" cy="3848100"/>
          </a:xfrm>
          <a:prstGeom prst="rect">
            <a:avLst/>
          </a:prstGeom>
        </p:spPr>
      </p:pic>
      <p:sp>
        <p:nvSpPr>
          <p:cNvPr id="10" name="TextBox 9"/>
          <p:cNvSpPr txBox="1"/>
          <p:nvPr/>
        </p:nvSpPr>
        <p:spPr>
          <a:xfrm>
            <a:off x="923925" y="4795837"/>
            <a:ext cx="942975" cy="190500"/>
          </a:xfrm>
          <a:prstGeom prst="rect">
            <a:avLst/>
          </a:prstGeom>
          <a:noFill/>
        </p:spPr>
        <p:txBody>
          <a:bodyPr wrap="square" lIns="0" tIns="0" rIns="0" bIns="0" anchor="t">
            <a:spAutoFit/>
          </a:bodyPr>
          <a:lstStyle/>
          <a:p>
            <a:pPr algn="l">
              <a:lnSpc>
                <a:spcPts val="1800"/>
              </a:lnSpc>
            </a:pPr>
            <a:r>
              <a:rPr sz="1125" b="0" i="1" u="none">
                <a:solidFill>
                  <a:srgbClr val="8B949E"/>
                </a:solidFill>
                <a:latin typeface="JetBrains Mono"/>
              </a:rPr>
              <a:t># Lower Red</a:t>
            </a:r>
          </a:p>
        </p:txBody>
      </p:sp>
      <p:sp>
        <p:nvSpPr>
          <p:cNvPr id="11" name="TextBox 10"/>
          <p:cNvSpPr txBox="1"/>
          <p:nvPr/>
        </p:nvSpPr>
        <p:spPr>
          <a:xfrm>
            <a:off x="4181475" y="4795837"/>
            <a:ext cx="85725" cy="190500"/>
          </a:xfrm>
          <a:prstGeom prst="rect">
            <a:avLst/>
          </a:prstGeom>
          <a:noFill/>
        </p:spPr>
        <p:txBody>
          <a:bodyPr wrap="square" lIns="0" tIns="0" rIns="0" bIns="0" anchor="t">
            <a:spAutoFit/>
          </a:bodyPr>
          <a:lstStyle/>
          <a:p>
            <a:pPr algn="l">
              <a:lnSpc>
                <a:spcPts val="1800"/>
              </a:lnSpc>
            </a:pPr>
            <a:r>
              <a:rPr sz="1125" b="0" i="0" u="none">
                <a:solidFill>
                  <a:srgbClr val="79C0FF"/>
                </a:solidFill>
                <a:latin typeface="JetBrains Mono"/>
              </a:rPr>
              <a:t>0</a:t>
            </a:r>
          </a:p>
        </p:txBody>
      </p:sp>
      <p:sp>
        <p:nvSpPr>
          <p:cNvPr id="12" name="TextBox 11"/>
          <p:cNvSpPr txBox="1"/>
          <p:nvPr/>
        </p:nvSpPr>
        <p:spPr>
          <a:xfrm>
            <a:off x="4438650" y="4795837"/>
            <a:ext cx="257175" cy="190500"/>
          </a:xfrm>
          <a:prstGeom prst="rect">
            <a:avLst/>
          </a:prstGeom>
          <a:noFill/>
        </p:spPr>
        <p:txBody>
          <a:bodyPr wrap="square" lIns="0" tIns="0" rIns="0" bIns="0" anchor="t">
            <a:spAutoFit/>
          </a:bodyPr>
          <a:lstStyle/>
          <a:p>
            <a:pPr algn="l">
              <a:lnSpc>
                <a:spcPts val="1800"/>
              </a:lnSpc>
            </a:pPr>
            <a:r>
              <a:rPr sz="1125" b="0" i="0" u="none">
                <a:solidFill>
                  <a:srgbClr val="79C0FF"/>
                </a:solidFill>
                <a:latin typeface="JetBrains Mono"/>
              </a:rPr>
              <a:t>120</a:t>
            </a:r>
          </a:p>
        </p:txBody>
      </p:sp>
      <p:sp>
        <p:nvSpPr>
          <p:cNvPr id="13" name="TextBox 12"/>
          <p:cNvSpPr txBox="1"/>
          <p:nvPr/>
        </p:nvSpPr>
        <p:spPr>
          <a:xfrm>
            <a:off x="4867275" y="4795837"/>
            <a:ext cx="171450" cy="190500"/>
          </a:xfrm>
          <a:prstGeom prst="rect">
            <a:avLst/>
          </a:prstGeom>
          <a:noFill/>
        </p:spPr>
        <p:txBody>
          <a:bodyPr wrap="square" lIns="0" tIns="0" rIns="0" bIns="0" anchor="t">
            <a:spAutoFit/>
          </a:bodyPr>
          <a:lstStyle/>
          <a:p>
            <a:pPr algn="l">
              <a:lnSpc>
                <a:spcPts val="1800"/>
              </a:lnSpc>
            </a:pPr>
            <a:r>
              <a:rPr sz="1125" b="0" i="0" u="none">
                <a:solidFill>
                  <a:srgbClr val="79C0FF"/>
                </a:solidFill>
                <a:latin typeface="JetBrains Mono"/>
              </a:rPr>
              <a:t>70</a:t>
            </a:r>
          </a:p>
        </p:txBody>
      </p:sp>
      <p:sp>
        <p:nvSpPr>
          <p:cNvPr id="14" name="TextBox 13"/>
          <p:cNvSpPr txBox="1"/>
          <p:nvPr/>
        </p:nvSpPr>
        <p:spPr>
          <a:xfrm>
            <a:off x="5381625" y="4795837"/>
            <a:ext cx="171450" cy="190500"/>
          </a:xfrm>
          <a:prstGeom prst="rect">
            <a:avLst/>
          </a:prstGeom>
          <a:noFill/>
        </p:spPr>
        <p:txBody>
          <a:bodyPr wrap="square" lIns="0" tIns="0" rIns="0" bIns="0" anchor="t">
            <a:spAutoFit/>
          </a:bodyPr>
          <a:lstStyle/>
          <a:p>
            <a:pPr algn="l">
              <a:lnSpc>
                <a:spcPts val="1800"/>
              </a:lnSpc>
            </a:pPr>
            <a:r>
              <a:rPr sz="1125" b="0" i="0" u="none">
                <a:solidFill>
                  <a:srgbClr val="79C0FF"/>
                </a:solidFill>
                <a:latin typeface="JetBrains Mono"/>
              </a:rPr>
              <a:t>10</a:t>
            </a:r>
          </a:p>
        </p:txBody>
      </p:sp>
      <p:sp>
        <p:nvSpPr>
          <p:cNvPr id="15" name="TextBox 14"/>
          <p:cNvSpPr txBox="1"/>
          <p:nvPr/>
        </p:nvSpPr>
        <p:spPr>
          <a:xfrm>
            <a:off x="923925" y="5024437"/>
            <a:ext cx="257175" cy="190500"/>
          </a:xfrm>
          <a:prstGeom prst="rect">
            <a:avLst/>
          </a:prstGeom>
          <a:noFill/>
        </p:spPr>
        <p:txBody>
          <a:bodyPr wrap="square" lIns="0" tIns="0" rIns="0" bIns="0" anchor="t">
            <a:spAutoFit/>
          </a:bodyPr>
          <a:lstStyle/>
          <a:p>
            <a:pPr algn="l">
              <a:lnSpc>
                <a:spcPts val="1800"/>
              </a:lnSpc>
            </a:pPr>
            <a:r>
              <a:rPr sz="1125" b="0" i="0" u="none">
                <a:solidFill>
                  <a:srgbClr val="79C0FF"/>
                </a:solidFill>
                <a:latin typeface="JetBrains Mono"/>
              </a:rPr>
              <a:t>255</a:t>
            </a:r>
          </a:p>
        </p:txBody>
      </p:sp>
      <p:sp>
        <p:nvSpPr>
          <p:cNvPr id="16" name="TextBox 15"/>
          <p:cNvSpPr txBox="1"/>
          <p:nvPr/>
        </p:nvSpPr>
        <p:spPr>
          <a:xfrm>
            <a:off x="1352550" y="5024437"/>
            <a:ext cx="257175" cy="190500"/>
          </a:xfrm>
          <a:prstGeom prst="rect">
            <a:avLst/>
          </a:prstGeom>
          <a:noFill/>
        </p:spPr>
        <p:txBody>
          <a:bodyPr wrap="square" lIns="0" tIns="0" rIns="0" bIns="0" anchor="t">
            <a:spAutoFit/>
          </a:bodyPr>
          <a:lstStyle/>
          <a:p>
            <a:pPr algn="l">
              <a:lnSpc>
                <a:spcPts val="1800"/>
              </a:lnSpc>
            </a:pPr>
            <a:r>
              <a:rPr sz="1125" b="0" i="0" u="none">
                <a:solidFill>
                  <a:srgbClr val="79C0FF"/>
                </a:solidFill>
                <a:latin typeface="JetBrains Mono"/>
              </a:rPr>
              <a:t>255</a:t>
            </a:r>
          </a:p>
        </p:txBody>
      </p:sp>
      <p:sp>
        <p:nvSpPr>
          <p:cNvPr id="17" name="TextBox 16"/>
          <p:cNvSpPr txBox="1"/>
          <p:nvPr/>
        </p:nvSpPr>
        <p:spPr>
          <a:xfrm>
            <a:off x="1866900" y="5024437"/>
            <a:ext cx="942975" cy="190500"/>
          </a:xfrm>
          <a:prstGeom prst="rect">
            <a:avLst/>
          </a:prstGeom>
          <a:noFill/>
        </p:spPr>
        <p:txBody>
          <a:bodyPr wrap="square" lIns="0" tIns="0" rIns="0" bIns="0" anchor="t">
            <a:spAutoFit/>
          </a:bodyPr>
          <a:lstStyle/>
          <a:p>
            <a:pPr algn="l">
              <a:lnSpc>
                <a:spcPts val="1800"/>
              </a:lnSpc>
            </a:pPr>
            <a:r>
              <a:rPr sz="1125" b="0" i="1" u="none">
                <a:solidFill>
                  <a:srgbClr val="8B949E"/>
                </a:solidFill>
                <a:latin typeface="JetBrains Mono"/>
              </a:rPr>
              <a:t># Upper Red</a:t>
            </a:r>
          </a:p>
        </p:txBody>
      </p:sp>
      <p:sp>
        <p:nvSpPr>
          <p:cNvPr id="18" name="TextBox 17"/>
          <p:cNvSpPr txBox="1"/>
          <p:nvPr/>
        </p:nvSpPr>
        <p:spPr>
          <a:xfrm>
            <a:off x="5124450" y="5024437"/>
            <a:ext cx="257175" cy="190500"/>
          </a:xfrm>
          <a:prstGeom prst="rect">
            <a:avLst/>
          </a:prstGeom>
          <a:noFill/>
        </p:spPr>
        <p:txBody>
          <a:bodyPr wrap="square" lIns="0" tIns="0" rIns="0" bIns="0" anchor="t">
            <a:spAutoFit/>
          </a:bodyPr>
          <a:lstStyle/>
          <a:p>
            <a:pPr algn="l">
              <a:lnSpc>
                <a:spcPts val="1800"/>
              </a:lnSpc>
            </a:pPr>
            <a:r>
              <a:rPr sz="1125" b="0" i="0" u="none">
                <a:solidFill>
                  <a:srgbClr val="79C0FF"/>
                </a:solidFill>
                <a:latin typeface="JetBrains Mono"/>
              </a:rPr>
              <a:t>170</a:t>
            </a:r>
          </a:p>
        </p:txBody>
      </p:sp>
      <p:sp>
        <p:nvSpPr>
          <p:cNvPr id="19" name="TextBox 18"/>
          <p:cNvSpPr txBox="1"/>
          <p:nvPr/>
        </p:nvSpPr>
        <p:spPr>
          <a:xfrm>
            <a:off x="923925" y="5253037"/>
            <a:ext cx="257175" cy="190500"/>
          </a:xfrm>
          <a:prstGeom prst="rect">
            <a:avLst/>
          </a:prstGeom>
          <a:noFill/>
        </p:spPr>
        <p:txBody>
          <a:bodyPr wrap="square" lIns="0" tIns="0" rIns="0" bIns="0" anchor="t">
            <a:spAutoFit/>
          </a:bodyPr>
          <a:lstStyle/>
          <a:p>
            <a:pPr algn="l">
              <a:lnSpc>
                <a:spcPts val="1800"/>
              </a:lnSpc>
            </a:pPr>
            <a:r>
              <a:rPr sz="1125" b="0" i="0" u="none">
                <a:solidFill>
                  <a:srgbClr val="79C0FF"/>
                </a:solidFill>
                <a:latin typeface="JetBrains Mono"/>
              </a:rPr>
              <a:t>120</a:t>
            </a:r>
          </a:p>
        </p:txBody>
      </p:sp>
      <p:sp>
        <p:nvSpPr>
          <p:cNvPr id="20" name="TextBox 19"/>
          <p:cNvSpPr txBox="1"/>
          <p:nvPr/>
        </p:nvSpPr>
        <p:spPr>
          <a:xfrm>
            <a:off x="1352550" y="5253037"/>
            <a:ext cx="171450" cy="190500"/>
          </a:xfrm>
          <a:prstGeom prst="rect">
            <a:avLst/>
          </a:prstGeom>
          <a:noFill/>
        </p:spPr>
        <p:txBody>
          <a:bodyPr wrap="square" lIns="0" tIns="0" rIns="0" bIns="0" anchor="t">
            <a:spAutoFit/>
          </a:bodyPr>
          <a:lstStyle/>
          <a:p>
            <a:pPr algn="l">
              <a:lnSpc>
                <a:spcPts val="1800"/>
              </a:lnSpc>
            </a:pPr>
            <a:r>
              <a:rPr sz="1125" b="0" i="0" u="none">
                <a:solidFill>
                  <a:srgbClr val="79C0FF"/>
                </a:solidFill>
                <a:latin typeface="JetBrains Mono"/>
              </a:rPr>
              <a:t>70</a:t>
            </a:r>
          </a:p>
        </p:txBody>
      </p:sp>
      <p:sp>
        <p:nvSpPr>
          <p:cNvPr id="21" name="TextBox 20"/>
          <p:cNvSpPr txBox="1"/>
          <p:nvPr/>
        </p:nvSpPr>
        <p:spPr>
          <a:xfrm>
            <a:off x="1866900" y="5253037"/>
            <a:ext cx="257175" cy="190500"/>
          </a:xfrm>
          <a:prstGeom prst="rect">
            <a:avLst/>
          </a:prstGeom>
          <a:noFill/>
        </p:spPr>
        <p:txBody>
          <a:bodyPr wrap="square" lIns="0" tIns="0" rIns="0" bIns="0" anchor="t">
            <a:spAutoFit/>
          </a:bodyPr>
          <a:lstStyle/>
          <a:p>
            <a:pPr algn="l">
              <a:lnSpc>
                <a:spcPts val="1800"/>
              </a:lnSpc>
            </a:pPr>
            <a:r>
              <a:rPr sz="1125" b="0" i="0" u="none">
                <a:solidFill>
                  <a:srgbClr val="79C0FF"/>
                </a:solidFill>
                <a:latin typeface="JetBrains Mono"/>
              </a:rPr>
              <a:t>180</a:t>
            </a:r>
          </a:p>
        </p:txBody>
      </p:sp>
      <p:sp>
        <p:nvSpPr>
          <p:cNvPr id="22" name="TextBox 21"/>
          <p:cNvSpPr txBox="1"/>
          <p:nvPr/>
        </p:nvSpPr>
        <p:spPr>
          <a:xfrm>
            <a:off x="2295525" y="5253037"/>
            <a:ext cx="257175" cy="190500"/>
          </a:xfrm>
          <a:prstGeom prst="rect">
            <a:avLst/>
          </a:prstGeom>
          <a:noFill/>
        </p:spPr>
        <p:txBody>
          <a:bodyPr wrap="square" lIns="0" tIns="0" rIns="0" bIns="0" anchor="t">
            <a:spAutoFit/>
          </a:bodyPr>
          <a:lstStyle/>
          <a:p>
            <a:pPr algn="l">
              <a:lnSpc>
                <a:spcPts val="1800"/>
              </a:lnSpc>
            </a:pPr>
            <a:r>
              <a:rPr sz="1125" b="0" i="0" u="none">
                <a:solidFill>
                  <a:srgbClr val="79C0FF"/>
                </a:solidFill>
                <a:latin typeface="JetBrains Mono"/>
              </a:rPr>
              <a:t>255</a:t>
            </a:r>
          </a:p>
        </p:txBody>
      </p:sp>
      <p:sp>
        <p:nvSpPr>
          <p:cNvPr id="23" name="TextBox 22"/>
          <p:cNvSpPr txBox="1"/>
          <p:nvPr/>
        </p:nvSpPr>
        <p:spPr>
          <a:xfrm>
            <a:off x="2724150" y="5253037"/>
            <a:ext cx="257175" cy="190500"/>
          </a:xfrm>
          <a:prstGeom prst="rect">
            <a:avLst/>
          </a:prstGeom>
          <a:noFill/>
        </p:spPr>
        <p:txBody>
          <a:bodyPr wrap="square" lIns="0" tIns="0" rIns="0" bIns="0" anchor="t">
            <a:spAutoFit/>
          </a:bodyPr>
          <a:lstStyle/>
          <a:p>
            <a:pPr algn="l">
              <a:lnSpc>
                <a:spcPts val="1800"/>
              </a:lnSpc>
            </a:pPr>
            <a:r>
              <a:rPr sz="1125" b="0" i="0" u="none">
                <a:solidFill>
                  <a:srgbClr val="79C0FF"/>
                </a:solidFill>
                <a:latin typeface="JetBrains Mono"/>
              </a:rPr>
              <a:t>255</a:t>
            </a:r>
          </a:p>
        </p:txBody>
      </p:sp>
      <p:sp>
        <p:nvSpPr>
          <p:cNvPr id="24" name="TextBox 23"/>
          <p:cNvSpPr txBox="1"/>
          <p:nvPr/>
        </p:nvSpPr>
        <p:spPr>
          <a:xfrm>
            <a:off x="3238500" y="5253037"/>
            <a:ext cx="771525" cy="190500"/>
          </a:xfrm>
          <a:prstGeom prst="rect">
            <a:avLst/>
          </a:prstGeom>
          <a:noFill/>
        </p:spPr>
        <p:txBody>
          <a:bodyPr wrap="square" lIns="0" tIns="0" rIns="0" bIns="0" anchor="t">
            <a:spAutoFit/>
          </a:bodyPr>
          <a:lstStyle/>
          <a:p>
            <a:pPr algn="l">
              <a:lnSpc>
                <a:spcPts val="1800"/>
              </a:lnSpc>
            </a:pPr>
            <a:r>
              <a:rPr sz="1125" b="0" i="1" u="none">
                <a:solidFill>
                  <a:srgbClr val="8B949E"/>
                </a:solidFill>
                <a:latin typeface="JetBrains Mono"/>
              </a:rPr>
              <a:t># Combine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71525" y="1033462"/>
            <a:ext cx="5190648" cy="581025"/>
          </a:xfrm>
          <a:prstGeom prst="rect">
            <a:avLst/>
          </a:prstGeom>
          <a:noFill/>
        </p:spPr>
        <p:txBody>
          <a:bodyPr wrap="square" lIns="0" tIns="0" rIns="0" bIns="0" anchor="t">
            <a:spAutoFit/>
          </a:bodyPr>
          <a:lstStyle/>
          <a:p>
            <a:pPr algn="l"/>
            <a:r>
              <a:rPr sz="3600" b="0" i="0" u="none">
                <a:solidFill>
                  <a:srgbClr val="F8FAFC"/>
                </a:solidFill>
                <a:latin typeface="Space Grotesk SemiBold"/>
              </a:rPr>
              <a:t>Mask Refinement</a:t>
            </a:r>
          </a:p>
        </p:txBody>
      </p:sp>
      <p:sp>
        <p:nvSpPr>
          <p:cNvPr id="4" name="TextBox 3"/>
          <p:cNvSpPr txBox="1"/>
          <p:nvPr/>
        </p:nvSpPr>
        <p:spPr>
          <a:xfrm>
            <a:off x="771525" y="1995487"/>
            <a:ext cx="5190648" cy="247650"/>
          </a:xfrm>
          <a:prstGeom prst="rect">
            <a:avLst/>
          </a:prstGeom>
          <a:noFill/>
        </p:spPr>
        <p:txBody>
          <a:bodyPr wrap="square" lIns="0" tIns="0" rIns="0" bIns="0" anchor="t">
            <a:spAutoFit/>
          </a:bodyPr>
          <a:lstStyle/>
          <a:p>
            <a:pPr algn="l"/>
            <a:r>
              <a:rPr sz="1500" b="1" i="0" u="none">
                <a:solidFill>
                  <a:srgbClr val="8B5CF6"/>
                </a:solidFill>
                <a:latin typeface="Space Grotesk"/>
              </a:rPr>
              <a:t>MORPHOLOGICAL OPERATIONS</a:t>
            </a:r>
          </a:p>
        </p:txBody>
      </p:sp>
      <p:sp>
        <p:nvSpPr>
          <p:cNvPr id="5" name="TextBox 4"/>
          <p:cNvSpPr txBox="1"/>
          <p:nvPr/>
        </p:nvSpPr>
        <p:spPr>
          <a:xfrm>
            <a:off x="771525" y="2338387"/>
            <a:ext cx="4943475" cy="914400"/>
          </a:xfrm>
          <a:prstGeom prst="rect">
            <a:avLst/>
          </a:prstGeom>
          <a:noFill/>
        </p:spPr>
        <p:txBody>
          <a:bodyPr wrap="square" lIns="0" tIns="0" rIns="0" bIns="0" anchor="t">
            <a:spAutoFit/>
          </a:bodyPr>
          <a:lstStyle/>
          <a:p>
            <a:pPr algn="l">
              <a:lnSpc>
                <a:spcPts val="2400"/>
              </a:lnSpc>
            </a:pPr>
            <a:r>
              <a:rPr sz="1500" b="0" i="0" u="none">
                <a:solidFill>
                  <a:srgbClr val="94A3B8"/>
                </a:solidFill>
                <a:latin typeface="Inter"/>
              </a:rPr>
              <a:t>Raw color masks are noisy and have jagged edges. The system applies mathematical morphology to clean the binary mask.</a:t>
            </a:r>
          </a:p>
        </p:txBody>
      </p:sp>
      <p:pic>
        <p:nvPicPr>
          <p:cNvPr id="6" name="Picture 5" descr="image.png"/>
          <p:cNvPicPr>
            <a:picLocks noChangeAspect="1"/>
          </p:cNvPicPr>
          <p:nvPr/>
        </p:nvPicPr>
        <p:blipFill>
          <a:blip r:embed="rId3"/>
          <a:stretch>
            <a:fillRect/>
          </a:stretch>
        </p:blipFill>
        <p:spPr>
          <a:xfrm>
            <a:off x="6096000" y="9525"/>
            <a:ext cx="6086475" cy="6858000"/>
          </a:xfrm>
          <a:prstGeom prst="rect">
            <a:avLst/>
          </a:prstGeom>
        </p:spPr>
      </p:pic>
      <p:sp>
        <p:nvSpPr>
          <p:cNvPr id="7" name="TextBox 6"/>
          <p:cNvSpPr txBox="1"/>
          <p:nvPr/>
        </p:nvSpPr>
        <p:spPr>
          <a:xfrm>
            <a:off x="1057275" y="3443287"/>
            <a:ext cx="4657725" cy="609600"/>
          </a:xfrm>
          <a:prstGeom prst="rect">
            <a:avLst/>
          </a:prstGeom>
          <a:noFill/>
        </p:spPr>
        <p:txBody>
          <a:bodyPr wrap="square" lIns="0" tIns="0" rIns="0" bIns="0" anchor="t">
            <a:spAutoFit/>
          </a:bodyPr>
          <a:lstStyle/>
          <a:p>
            <a:pPr algn="l">
              <a:lnSpc>
                <a:spcPts val="2400"/>
              </a:lnSpc>
            </a:pPr>
            <a:r>
              <a:rPr sz="1500" b="1" i="0" u="none">
                <a:solidFill>
                  <a:srgbClr val="F8FAFC"/>
                </a:solidFill>
                <a:latin typeface="Inter"/>
              </a:rPr>
              <a:t>Opening:</a:t>
            </a:r>
            <a:r>
              <a:rPr sz="1500" b="0" i="0" u="none">
                <a:solidFill>
                  <a:srgbClr val="94A3B8"/>
                </a:solidFill>
                <a:latin typeface="Inter"/>
              </a:rPr>
              <a:t> Removes false positives (background noise).</a:t>
            </a:r>
          </a:p>
        </p:txBody>
      </p:sp>
      <p:sp>
        <p:nvSpPr>
          <p:cNvPr id="8" name="TextBox 7"/>
          <p:cNvSpPr txBox="1"/>
          <p:nvPr/>
        </p:nvSpPr>
        <p:spPr>
          <a:xfrm>
            <a:off x="1057275" y="4243387"/>
            <a:ext cx="4657725" cy="914400"/>
          </a:xfrm>
          <a:prstGeom prst="rect">
            <a:avLst/>
          </a:prstGeom>
          <a:noFill/>
        </p:spPr>
        <p:txBody>
          <a:bodyPr wrap="square" lIns="0" tIns="0" rIns="0" bIns="0" anchor="t">
            <a:spAutoFit/>
          </a:bodyPr>
          <a:lstStyle/>
          <a:p>
            <a:pPr algn="l">
              <a:lnSpc>
                <a:spcPts val="2400"/>
              </a:lnSpc>
            </a:pPr>
            <a:r>
              <a:rPr sz="1500" b="1" i="0" u="none">
                <a:solidFill>
                  <a:srgbClr val="F8FAFC"/>
                </a:solidFill>
                <a:latin typeface="Inter"/>
              </a:rPr>
              <a:t>Dilation:</a:t>
            </a:r>
            <a:r>
              <a:rPr sz="1500" b="0" i="0" u="none">
                <a:solidFill>
                  <a:srgbClr val="94A3B8"/>
                </a:solidFill>
                <a:latin typeface="Inter"/>
              </a:rPr>
              <a:t> Expands the mask boundaries slightly to ensure the entire cloak is covered, preventing edge artifacts.</a:t>
            </a:r>
          </a:p>
        </p:txBody>
      </p:sp>
      <p:sp>
        <p:nvSpPr>
          <p:cNvPr id="9" name="TextBox 8"/>
          <p:cNvSpPr txBox="1"/>
          <p:nvPr/>
        </p:nvSpPr>
        <p:spPr>
          <a:xfrm>
            <a:off x="1057275" y="5348287"/>
            <a:ext cx="4657725" cy="304800"/>
          </a:xfrm>
          <a:prstGeom prst="rect">
            <a:avLst/>
          </a:prstGeom>
          <a:noFill/>
        </p:spPr>
        <p:txBody>
          <a:bodyPr wrap="square" lIns="0" tIns="0" rIns="0" bIns="0" anchor="t">
            <a:spAutoFit/>
          </a:bodyPr>
          <a:lstStyle/>
          <a:p>
            <a:pPr algn="l">
              <a:lnSpc>
                <a:spcPts val="2400"/>
              </a:lnSpc>
            </a:pPr>
            <a:r>
              <a:rPr sz="1500" b="1" i="0" u="none">
                <a:solidFill>
                  <a:srgbClr val="F8FAFC"/>
                </a:solidFill>
                <a:latin typeface="Inter"/>
              </a:rPr>
              <a:t>Smoothing:</a:t>
            </a:r>
            <a:r>
              <a:rPr sz="1500" b="0" i="0" u="none">
                <a:solidFill>
                  <a:srgbClr val="94A3B8"/>
                </a:solidFill>
                <a:latin typeface="Inter"/>
              </a:rPr>
              <a:t> Blurs edges for seamless blending.</a:t>
            </a:r>
          </a:p>
        </p:txBody>
      </p:sp>
      <p:sp>
        <p:nvSpPr>
          <p:cNvPr id="10" name="TextBox 9"/>
          <p:cNvSpPr txBox="1"/>
          <p:nvPr/>
        </p:nvSpPr>
        <p:spPr>
          <a:xfrm>
            <a:off x="771525" y="3443287"/>
            <a:ext cx="190500" cy="304800"/>
          </a:xfrm>
          <a:prstGeom prst="rect">
            <a:avLst/>
          </a:prstGeom>
          <a:noFill/>
        </p:spPr>
        <p:txBody>
          <a:bodyPr wrap="square" lIns="0" tIns="0" rIns="0" bIns="0" anchor="t">
            <a:spAutoFit/>
          </a:bodyPr>
          <a:lstStyle/>
          <a:p>
            <a:pPr algn="l">
              <a:lnSpc>
                <a:spcPts val="2400"/>
              </a:lnSpc>
            </a:pPr>
            <a:r>
              <a:rPr sz="1500" b="1" i="0" u="none">
                <a:solidFill>
                  <a:srgbClr val="0EA5E9"/>
                </a:solidFill>
                <a:latin typeface="JetBrains Mono"/>
              </a:rPr>
              <a:t>→</a:t>
            </a:r>
          </a:p>
        </p:txBody>
      </p:sp>
      <p:sp>
        <p:nvSpPr>
          <p:cNvPr id="11" name="TextBox 10"/>
          <p:cNvSpPr txBox="1"/>
          <p:nvPr/>
        </p:nvSpPr>
        <p:spPr>
          <a:xfrm>
            <a:off x="771525" y="4243387"/>
            <a:ext cx="190500" cy="304800"/>
          </a:xfrm>
          <a:prstGeom prst="rect">
            <a:avLst/>
          </a:prstGeom>
          <a:noFill/>
        </p:spPr>
        <p:txBody>
          <a:bodyPr wrap="square" lIns="0" tIns="0" rIns="0" bIns="0" anchor="t">
            <a:spAutoFit/>
          </a:bodyPr>
          <a:lstStyle/>
          <a:p>
            <a:pPr algn="l">
              <a:lnSpc>
                <a:spcPts val="2400"/>
              </a:lnSpc>
            </a:pPr>
            <a:r>
              <a:rPr sz="1500" b="1" i="0" u="none">
                <a:solidFill>
                  <a:srgbClr val="0EA5E9"/>
                </a:solidFill>
                <a:latin typeface="JetBrains Mono"/>
              </a:rPr>
              <a:t>→</a:t>
            </a:r>
          </a:p>
        </p:txBody>
      </p:sp>
      <p:sp>
        <p:nvSpPr>
          <p:cNvPr id="12" name="TextBox 11"/>
          <p:cNvSpPr txBox="1"/>
          <p:nvPr/>
        </p:nvSpPr>
        <p:spPr>
          <a:xfrm>
            <a:off x="771525" y="5348287"/>
            <a:ext cx="190500" cy="304800"/>
          </a:xfrm>
          <a:prstGeom prst="rect">
            <a:avLst/>
          </a:prstGeom>
          <a:noFill/>
        </p:spPr>
        <p:txBody>
          <a:bodyPr wrap="square" lIns="0" tIns="0" rIns="0" bIns="0" anchor="t">
            <a:spAutoFit/>
          </a:bodyPr>
          <a:lstStyle/>
          <a:p>
            <a:pPr algn="l">
              <a:lnSpc>
                <a:spcPts val="2400"/>
              </a:lnSpc>
            </a:pPr>
            <a:r>
              <a:rPr sz="1500" b="1" i="0" u="none">
                <a:solidFill>
                  <a:srgbClr val="0EA5E9"/>
                </a:solidFill>
                <a:latin typeface="JetBrains Mono"/>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81750" y="2871787"/>
            <a:ext cx="5038725" cy="2076450"/>
          </a:xfrm>
          <a:prstGeom prst="rect">
            <a:avLst/>
          </a:prstGeom>
        </p:spPr>
      </p:pic>
      <p:sp>
        <p:nvSpPr>
          <p:cNvPr id="4" name="TextBox 3"/>
          <p:cNvSpPr txBox="1"/>
          <p:nvPr/>
        </p:nvSpPr>
        <p:spPr>
          <a:xfrm>
            <a:off x="771525" y="581025"/>
            <a:ext cx="11181397" cy="581025"/>
          </a:xfrm>
          <a:prstGeom prst="rect">
            <a:avLst/>
          </a:prstGeom>
          <a:noFill/>
        </p:spPr>
        <p:txBody>
          <a:bodyPr wrap="square" lIns="0" tIns="0" rIns="0" bIns="0" anchor="t">
            <a:spAutoFit/>
          </a:bodyPr>
          <a:lstStyle/>
          <a:p>
            <a:pPr algn="l"/>
            <a:r>
              <a:rPr sz="3600" b="0" i="0" u="none">
                <a:solidFill>
                  <a:srgbClr val="F8FAFC"/>
                </a:solidFill>
                <a:latin typeface="Space Grotesk SemiBold"/>
              </a:rPr>
              <a:t>Image </a:t>
            </a:r>
            <a:r>
              <a:rPr sz="3600" b="0" i="0" u="none">
                <a:solidFill>
                  <a:srgbClr val="0EA5E9"/>
                </a:solidFill>
                <a:latin typeface="Space Grotesk SemiBold"/>
              </a:rPr>
              <a:t>Compositing</a:t>
            </a:r>
          </a:p>
        </p:txBody>
      </p:sp>
      <p:sp>
        <p:nvSpPr>
          <p:cNvPr id="5" name="TextBox 4"/>
          <p:cNvSpPr txBox="1"/>
          <p:nvPr/>
        </p:nvSpPr>
        <p:spPr>
          <a:xfrm>
            <a:off x="771525" y="2462212"/>
            <a:ext cx="5038725" cy="1219200"/>
          </a:xfrm>
          <a:prstGeom prst="rect">
            <a:avLst/>
          </a:prstGeom>
          <a:noFill/>
        </p:spPr>
        <p:txBody>
          <a:bodyPr wrap="square" lIns="0" tIns="0" rIns="0" bIns="0" anchor="t">
            <a:spAutoFit/>
          </a:bodyPr>
          <a:lstStyle/>
          <a:p>
            <a:pPr algn="l">
              <a:lnSpc>
                <a:spcPts val="2400"/>
              </a:lnSpc>
            </a:pPr>
            <a:r>
              <a:rPr sz="1500" b="0" i="0" u="none">
                <a:solidFill>
                  <a:srgbClr val="94A3B8"/>
                </a:solidFill>
                <a:latin typeface="Inter"/>
              </a:rPr>
              <a:t>The final illusion is created using bitwise array operations. We use the refined mask to carve out the cloak from the live frame, and fill that exact void with the static background.</a:t>
            </a:r>
          </a:p>
        </p:txBody>
      </p:sp>
      <p:sp>
        <p:nvSpPr>
          <p:cNvPr id="6" name="TextBox 5"/>
          <p:cNvSpPr txBox="1"/>
          <p:nvPr/>
        </p:nvSpPr>
        <p:spPr>
          <a:xfrm>
            <a:off x="1057275" y="3871912"/>
            <a:ext cx="4752975" cy="304800"/>
          </a:xfrm>
          <a:prstGeom prst="rect">
            <a:avLst/>
          </a:prstGeom>
          <a:noFill/>
        </p:spPr>
        <p:txBody>
          <a:bodyPr wrap="square" lIns="0" tIns="0" rIns="0" bIns="0" anchor="t">
            <a:spAutoFit/>
          </a:bodyPr>
          <a:lstStyle/>
          <a:p>
            <a:pPr algn="l">
              <a:lnSpc>
                <a:spcPts val="2400"/>
              </a:lnSpc>
            </a:pPr>
            <a:r>
              <a:rPr sz="1500" b="1" i="0" u="none">
                <a:solidFill>
                  <a:srgbClr val="94A3B8"/>
                </a:solidFill>
                <a:latin typeface="Inter"/>
              </a:rPr>
              <a:t>res1:</a:t>
            </a:r>
            <a:r>
              <a:rPr sz="1500" b="0" i="0" u="none">
                <a:solidFill>
                  <a:srgbClr val="94A3B8"/>
                </a:solidFill>
                <a:latin typeface="Inter"/>
              </a:rPr>
              <a:t> Background pixels where mask &gt; 0</a:t>
            </a:r>
          </a:p>
        </p:txBody>
      </p:sp>
      <p:sp>
        <p:nvSpPr>
          <p:cNvPr id="7" name="TextBox 6"/>
          <p:cNvSpPr txBox="1"/>
          <p:nvPr/>
        </p:nvSpPr>
        <p:spPr>
          <a:xfrm>
            <a:off x="1057275" y="4367212"/>
            <a:ext cx="4752975" cy="304800"/>
          </a:xfrm>
          <a:prstGeom prst="rect">
            <a:avLst/>
          </a:prstGeom>
          <a:noFill/>
        </p:spPr>
        <p:txBody>
          <a:bodyPr wrap="square" lIns="0" tIns="0" rIns="0" bIns="0" anchor="t">
            <a:spAutoFit/>
          </a:bodyPr>
          <a:lstStyle/>
          <a:p>
            <a:pPr algn="l">
              <a:lnSpc>
                <a:spcPts val="2400"/>
              </a:lnSpc>
            </a:pPr>
            <a:r>
              <a:rPr sz="1500" b="1" i="0" u="none">
                <a:solidFill>
                  <a:srgbClr val="94A3B8"/>
                </a:solidFill>
                <a:latin typeface="Inter"/>
              </a:rPr>
              <a:t>res2:</a:t>
            </a:r>
            <a:r>
              <a:rPr sz="1500" b="0" i="0" u="none">
                <a:solidFill>
                  <a:srgbClr val="94A3B8"/>
                </a:solidFill>
                <a:latin typeface="Inter"/>
              </a:rPr>
              <a:t> Live pixels where inverted mask &gt; 0</a:t>
            </a:r>
          </a:p>
        </p:txBody>
      </p:sp>
      <p:sp>
        <p:nvSpPr>
          <p:cNvPr id="8" name="TextBox 7"/>
          <p:cNvSpPr txBox="1"/>
          <p:nvPr/>
        </p:nvSpPr>
        <p:spPr>
          <a:xfrm>
            <a:off x="1057275" y="4862512"/>
            <a:ext cx="4752975" cy="304800"/>
          </a:xfrm>
          <a:prstGeom prst="rect">
            <a:avLst/>
          </a:prstGeom>
          <a:noFill/>
        </p:spPr>
        <p:txBody>
          <a:bodyPr wrap="square" lIns="0" tIns="0" rIns="0" bIns="0" anchor="t">
            <a:spAutoFit/>
          </a:bodyPr>
          <a:lstStyle/>
          <a:p>
            <a:pPr algn="l">
              <a:lnSpc>
                <a:spcPts val="2400"/>
              </a:lnSpc>
            </a:pPr>
            <a:r>
              <a:rPr sz="1500" b="1" i="0" u="none">
                <a:solidFill>
                  <a:srgbClr val="94A3B8"/>
                </a:solidFill>
                <a:latin typeface="Inter"/>
              </a:rPr>
              <a:t>Final:</a:t>
            </a:r>
            <a:r>
              <a:rPr sz="1500" b="0" i="0" u="none">
                <a:solidFill>
                  <a:srgbClr val="94A3B8"/>
                </a:solidFill>
                <a:latin typeface="Inter"/>
              </a:rPr>
              <a:t> Addition of res1 + res2</a:t>
            </a:r>
          </a:p>
        </p:txBody>
      </p:sp>
      <p:sp>
        <p:nvSpPr>
          <p:cNvPr id="9" name="TextBox 8"/>
          <p:cNvSpPr txBox="1"/>
          <p:nvPr/>
        </p:nvSpPr>
        <p:spPr>
          <a:xfrm>
            <a:off x="6619875" y="3128962"/>
            <a:ext cx="2914650" cy="190500"/>
          </a:xfrm>
          <a:prstGeom prst="rect">
            <a:avLst/>
          </a:prstGeom>
          <a:noFill/>
        </p:spPr>
        <p:txBody>
          <a:bodyPr wrap="square" lIns="0" tIns="0" rIns="0" bIns="0" anchor="t">
            <a:spAutoFit/>
          </a:bodyPr>
          <a:lstStyle/>
          <a:p>
            <a:pPr algn="l">
              <a:lnSpc>
                <a:spcPts val="1800"/>
              </a:lnSpc>
            </a:pPr>
            <a:r>
              <a:rPr sz="1125" b="0" i="1" u="none">
                <a:solidFill>
                  <a:srgbClr val="8B949E"/>
                </a:solidFill>
                <a:latin typeface="JetBrains Mono"/>
              </a:rPr>
              <a:t># 1. Isolate the background region</a:t>
            </a:r>
          </a:p>
        </p:txBody>
      </p:sp>
      <p:sp>
        <p:nvSpPr>
          <p:cNvPr id="10" name="TextBox 9"/>
          <p:cNvSpPr txBox="1"/>
          <p:nvPr/>
        </p:nvSpPr>
        <p:spPr>
          <a:xfrm>
            <a:off x="6962775" y="3357562"/>
            <a:ext cx="942975" cy="190500"/>
          </a:xfrm>
          <a:prstGeom prst="rect">
            <a:avLst/>
          </a:prstGeom>
          <a:noFill/>
        </p:spPr>
        <p:txBody>
          <a:bodyPr wrap="square" lIns="0" tIns="0" rIns="0" bIns="0" anchor="t">
            <a:spAutoFit/>
          </a:bodyPr>
          <a:lstStyle/>
          <a:p>
            <a:pPr algn="l">
              <a:lnSpc>
                <a:spcPts val="1800"/>
              </a:lnSpc>
            </a:pPr>
            <a:r>
              <a:rPr sz="1125" b="0" i="0" u="none">
                <a:solidFill>
                  <a:srgbClr val="D2A8FF"/>
                </a:solidFill>
                <a:latin typeface="JetBrains Mono"/>
              </a:rPr>
              <a:t>bitwise_and</a:t>
            </a:r>
          </a:p>
        </p:txBody>
      </p:sp>
      <p:sp>
        <p:nvSpPr>
          <p:cNvPr id="11" name="TextBox 10"/>
          <p:cNvSpPr txBox="1"/>
          <p:nvPr/>
        </p:nvSpPr>
        <p:spPr>
          <a:xfrm>
            <a:off x="6619875" y="3586162"/>
            <a:ext cx="4200525" cy="419100"/>
          </a:xfrm>
          <a:prstGeom prst="rect">
            <a:avLst/>
          </a:prstGeom>
          <a:noFill/>
        </p:spPr>
        <p:txBody>
          <a:bodyPr wrap="square" lIns="0" tIns="0" rIns="0" bIns="0" anchor="t">
            <a:spAutoFit/>
          </a:bodyPr>
          <a:lstStyle/>
          <a:p>
            <a:pPr algn="l">
              <a:lnSpc>
                <a:spcPts val="1800"/>
              </a:lnSpc>
            </a:pPr>
            <a:r>
              <a:rPr sz="1125" b="0" i="1" u="none">
                <a:solidFill>
                  <a:srgbClr val="8B949E"/>
                </a:solidFill>
                <a:latin typeface="JetBrains Mono"/>
              </a:rPr>
              <a:t># 2. Isolate the non-cloak live frame</a:t>
            </a:r>
          </a:p>
        </p:txBody>
      </p:sp>
      <p:sp>
        <p:nvSpPr>
          <p:cNvPr id="12" name="TextBox 11"/>
          <p:cNvSpPr txBox="1"/>
          <p:nvPr/>
        </p:nvSpPr>
        <p:spPr>
          <a:xfrm>
            <a:off x="8420100" y="3814762"/>
            <a:ext cx="942975" cy="190500"/>
          </a:xfrm>
          <a:prstGeom prst="rect">
            <a:avLst/>
          </a:prstGeom>
          <a:noFill/>
        </p:spPr>
        <p:txBody>
          <a:bodyPr wrap="square" lIns="0" tIns="0" rIns="0" bIns="0" anchor="t">
            <a:spAutoFit/>
          </a:bodyPr>
          <a:lstStyle/>
          <a:p>
            <a:pPr algn="l">
              <a:lnSpc>
                <a:spcPts val="1800"/>
              </a:lnSpc>
            </a:pPr>
            <a:r>
              <a:rPr sz="1125" b="0" i="0" u="none">
                <a:solidFill>
                  <a:srgbClr val="D2A8FF"/>
                </a:solidFill>
                <a:latin typeface="JetBrains Mono"/>
              </a:rPr>
              <a:t>bitwise_not</a:t>
            </a:r>
          </a:p>
        </p:txBody>
      </p:sp>
      <p:sp>
        <p:nvSpPr>
          <p:cNvPr id="13" name="TextBox 12"/>
          <p:cNvSpPr txBox="1"/>
          <p:nvPr/>
        </p:nvSpPr>
        <p:spPr>
          <a:xfrm>
            <a:off x="6962775" y="4043362"/>
            <a:ext cx="942975" cy="190500"/>
          </a:xfrm>
          <a:prstGeom prst="rect">
            <a:avLst/>
          </a:prstGeom>
          <a:noFill/>
        </p:spPr>
        <p:txBody>
          <a:bodyPr wrap="square" lIns="0" tIns="0" rIns="0" bIns="0" anchor="t">
            <a:spAutoFit/>
          </a:bodyPr>
          <a:lstStyle/>
          <a:p>
            <a:pPr algn="l">
              <a:lnSpc>
                <a:spcPts val="1800"/>
              </a:lnSpc>
            </a:pPr>
            <a:r>
              <a:rPr sz="1125" b="0" i="0" u="none">
                <a:solidFill>
                  <a:srgbClr val="D2A8FF"/>
                </a:solidFill>
                <a:latin typeface="JetBrains Mono"/>
              </a:rPr>
              <a:t>bitwise_and</a:t>
            </a:r>
          </a:p>
        </p:txBody>
      </p:sp>
      <p:sp>
        <p:nvSpPr>
          <p:cNvPr id="14" name="TextBox 13"/>
          <p:cNvSpPr txBox="1"/>
          <p:nvPr/>
        </p:nvSpPr>
        <p:spPr>
          <a:xfrm>
            <a:off x="7991475" y="4271962"/>
            <a:ext cx="1800225" cy="190500"/>
          </a:xfrm>
          <a:prstGeom prst="rect">
            <a:avLst/>
          </a:prstGeom>
          <a:noFill/>
        </p:spPr>
        <p:txBody>
          <a:bodyPr wrap="square" lIns="0" tIns="0" rIns="0" bIns="0" anchor="t">
            <a:spAutoFit/>
          </a:bodyPr>
          <a:lstStyle/>
          <a:p>
            <a:pPr algn="l">
              <a:lnSpc>
                <a:spcPts val="1800"/>
              </a:lnSpc>
            </a:pPr>
            <a:r>
              <a:rPr sz="1125" b="0" i="1" u="none">
                <a:solidFill>
                  <a:srgbClr val="8B949E"/>
                </a:solidFill>
                <a:latin typeface="JetBrains Mono"/>
              </a:rPr>
              <a:t># 3. Combine matrices</a:t>
            </a:r>
          </a:p>
        </p:txBody>
      </p:sp>
      <p:sp>
        <p:nvSpPr>
          <p:cNvPr id="15" name="TextBox 14"/>
          <p:cNvSpPr txBox="1"/>
          <p:nvPr/>
        </p:nvSpPr>
        <p:spPr>
          <a:xfrm>
            <a:off x="6962775" y="4500562"/>
            <a:ext cx="257175" cy="190500"/>
          </a:xfrm>
          <a:prstGeom prst="rect">
            <a:avLst/>
          </a:prstGeom>
          <a:noFill/>
        </p:spPr>
        <p:txBody>
          <a:bodyPr wrap="square" lIns="0" tIns="0" rIns="0" bIns="0" anchor="t">
            <a:spAutoFit/>
          </a:bodyPr>
          <a:lstStyle/>
          <a:p>
            <a:pPr algn="l">
              <a:lnSpc>
                <a:spcPts val="1800"/>
              </a:lnSpc>
            </a:pPr>
            <a:r>
              <a:rPr sz="1125" b="0" i="0" u="none">
                <a:solidFill>
                  <a:srgbClr val="D2A8FF"/>
                </a:solidFill>
                <a:latin typeface="JetBrains Mono"/>
              </a:rPr>
              <a:t>add</a:t>
            </a:r>
          </a:p>
        </p:txBody>
      </p:sp>
      <p:sp>
        <p:nvSpPr>
          <p:cNvPr id="16" name="TextBox 15"/>
          <p:cNvSpPr txBox="1"/>
          <p:nvPr/>
        </p:nvSpPr>
        <p:spPr>
          <a:xfrm>
            <a:off x="771525" y="3871912"/>
            <a:ext cx="190500" cy="304800"/>
          </a:xfrm>
          <a:prstGeom prst="rect">
            <a:avLst/>
          </a:prstGeom>
          <a:noFill/>
        </p:spPr>
        <p:txBody>
          <a:bodyPr wrap="square" lIns="0" tIns="0" rIns="0" bIns="0" anchor="t">
            <a:spAutoFit/>
          </a:bodyPr>
          <a:lstStyle/>
          <a:p>
            <a:pPr algn="l">
              <a:lnSpc>
                <a:spcPts val="2400"/>
              </a:lnSpc>
            </a:pPr>
            <a:r>
              <a:rPr sz="1500" b="1" i="0" u="none">
                <a:solidFill>
                  <a:srgbClr val="0EA5E9"/>
                </a:solidFill>
                <a:latin typeface="JetBrains Mono"/>
              </a:rPr>
              <a:t>→</a:t>
            </a:r>
          </a:p>
        </p:txBody>
      </p:sp>
      <p:sp>
        <p:nvSpPr>
          <p:cNvPr id="17" name="TextBox 16"/>
          <p:cNvSpPr txBox="1"/>
          <p:nvPr/>
        </p:nvSpPr>
        <p:spPr>
          <a:xfrm>
            <a:off x="771525" y="4367212"/>
            <a:ext cx="190500" cy="304800"/>
          </a:xfrm>
          <a:prstGeom prst="rect">
            <a:avLst/>
          </a:prstGeom>
          <a:noFill/>
        </p:spPr>
        <p:txBody>
          <a:bodyPr wrap="square" lIns="0" tIns="0" rIns="0" bIns="0" anchor="t">
            <a:spAutoFit/>
          </a:bodyPr>
          <a:lstStyle/>
          <a:p>
            <a:pPr algn="l">
              <a:lnSpc>
                <a:spcPts val="2400"/>
              </a:lnSpc>
            </a:pPr>
            <a:r>
              <a:rPr sz="1500" b="1" i="0" u="none">
                <a:solidFill>
                  <a:srgbClr val="0EA5E9"/>
                </a:solidFill>
                <a:latin typeface="JetBrains Mono"/>
              </a:rPr>
              <a:t>→</a:t>
            </a:r>
          </a:p>
        </p:txBody>
      </p:sp>
      <p:sp>
        <p:nvSpPr>
          <p:cNvPr id="18" name="TextBox 17"/>
          <p:cNvSpPr txBox="1"/>
          <p:nvPr/>
        </p:nvSpPr>
        <p:spPr>
          <a:xfrm>
            <a:off x="771525" y="4862512"/>
            <a:ext cx="190500" cy="304800"/>
          </a:xfrm>
          <a:prstGeom prst="rect">
            <a:avLst/>
          </a:prstGeom>
          <a:noFill/>
        </p:spPr>
        <p:txBody>
          <a:bodyPr wrap="square" lIns="0" tIns="0" rIns="0" bIns="0" anchor="t">
            <a:spAutoFit/>
          </a:bodyPr>
          <a:lstStyle/>
          <a:p>
            <a:pPr algn="l">
              <a:lnSpc>
                <a:spcPts val="2400"/>
              </a:lnSpc>
            </a:pPr>
            <a:r>
              <a:rPr sz="1500" b="1" i="0" u="none">
                <a:solidFill>
                  <a:srgbClr val="0EA5E9"/>
                </a:solidFill>
                <a:latin typeface="JetBrains Mono"/>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71525" y="581025"/>
            <a:ext cx="11181397" cy="581025"/>
          </a:xfrm>
          <a:prstGeom prst="rect">
            <a:avLst/>
          </a:prstGeom>
          <a:noFill/>
        </p:spPr>
        <p:txBody>
          <a:bodyPr wrap="square" lIns="0" tIns="0" rIns="0" bIns="0" anchor="t">
            <a:spAutoFit/>
          </a:bodyPr>
          <a:lstStyle/>
          <a:p>
            <a:pPr algn="l"/>
            <a:r>
              <a:rPr sz="3600" b="0" i="0" u="none">
                <a:solidFill>
                  <a:srgbClr val="F8FAFC"/>
                </a:solidFill>
                <a:latin typeface="Space Grotesk SemiBold"/>
              </a:rPr>
              <a:t>Modular </a:t>
            </a:r>
            <a:r>
              <a:rPr sz="3600" b="0" i="0" u="none">
                <a:solidFill>
                  <a:srgbClr val="8B5CF6"/>
                </a:solidFill>
                <a:latin typeface="Space Grotesk SemiBold"/>
              </a:rPr>
              <a:t>Architecture</a:t>
            </a:r>
          </a:p>
        </p:txBody>
      </p:sp>
      <p:sp>
        <p:nvSpPr>
          <p:cNvPr id="4" name="Rounded Rectangle 3"/>
          <p:cNvSpPr/>
          <p:nvPr/>
        </p:nvSpPr>
        <p:spPr>
          <a:xfrm>
            <a:off x="771525" y="1557337"/>
            <a:ext cx="10648950" cy="4705350"/>
          </a:xfrm>
          <a:prstGeom prst="roundRect">
            <a:avLst>
              <a:gd name="adj" fmla="val 0"/>
            </a:avLst>
          </a:prstGeom>
          <a:solidFill>
            <a:srgbClr val="18181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771525" y="1557337"/>
          <a:ext cx="10639424" cy="4705350"/>
        </p:xfrm>
        <a:graphic>
          <a:graphicData uri="http://schemas.openxmlformats.org/drawingml/2006/table">
            <a:tbl>
              <a:tblPr firstRow="1" bandRow="1">
                <a:tableStyleId>{5C22544A-7EE6-4342-B048-85BDC9FD1C3A}</a:tableStyleId>
              </a:tblPr>
              <a:tblGrid>
                <a:gridCol w="1947862">
                  <a:extLst>
                    <a:ext uri="{9D8B030D-6E8A-4147-A177-3AD203B41FA5}">
                      <a16:colId xmlns:a16="http://schemas.microsoft.com/office/drawing/2014/main" val="20000"/>
                    </a:ext>
                  </a:extLst>
                </a:gridCol>
                <a:gridCol w="6138267">
                  <a:extLst>
                    <a:ext uri="{9D8B030D-6E8A-4147-A177-3AD203B41FA5}">
                      <a16:colId xmlns:a16="http://schemas.microsoft.com/office/drawing/2014/main" val="20001"/>
                    </a:ext>
                  </a:extLst>
                </a:gridCol>
                <a:gridCol w="2553295">
                  <a:extLst>
                    <a:ext uri="{9D8B030D-6E8A-4147-A177-3AD203B41FA5}">
                      <a16:colId xmlns:a16="http://schemas.microsoft.com/office/drawing/2014/main" val="20002"/>
                    </a:ext>
                  </a:extLst>
                </a:gridCol>
              </a:tblGrid>
              <a:tr h="941070">
                <a:tc>
                  <a:txBody>
                    <a:bodyPr/>
                    <a:lstStyle/>
                    <a:p>
                      <a:pPr algn="l"/>
                      <a:r>
                        <a:rPr sz="1500" b="0" i="0" u="none">
                          <a:solidFill>
                            <a:srgbClr val="F8FAFC"/>
                          </a:solidFill>
                          <a:latin typeface="Space Grotesk SemiBold"/>
                        </a:rPr>
                        <a:t>Module Path</a:t>
                      </a:r>
                    </a:p>
                  </a:txBody>
                  <a:tcPr marL="63500" marR="63500" marT="25400" marB="25400" anchor="ctr">
                    <a:lnL>
                      <a:noFill/>
                    </a:lnL>
                    <a:lnR>
                      <a:noFill/>
                    </a:lnR>
                    <a:lnT>
                      <a:noFill/>
                    </a:lnT>
                    <a:lnB>
                      <a:noFill/>
                    </a:lnB>
                    <a:solidFill>
                      <a:srgbClr val="1F2937"/>
                    </a:solidFill>
                  </a:tcPr>
                </a:tc>
                <a:tc>
                  <a:txBody>
                    <a:bodyPr/>
                    <a:lstStyle/>
                    <a:p>
                      <a:pPr algn="l"/>
                      <a:r>
                        <a:rPr sz="1500" b="0" i="0" u="none">
                          <a:solidFill>
                            <a:srgbClr val="F8FAFC"/>
                          </a:solidFill>
                          <a:latin typeface="Space Grotesk SemiBold"/>
                        </a:rPr>
                        <a:t>Responsibility</a:t>
                      </a:r>
                    </a:p>
                  </a:txBody>
                  <a:tcPr marL="63500" marR="63500" marT="25400" marB="25400" anchor="ctr">
                    <a:lnL>
                      <a:noFill/>
                    </a:lnL>
                    <a:lnR>
                      <a:noFill/>
                    </a:lnR>
                    <a:lnT>
                      <a:noFill/>
                    </a:lnT>
                    <a:lnB>
                      <a:noFill/>
                    </a:lnB>
                    <a:solidFill>
                      <a:srgbClr val="1F2937"/>
                    </a:solidFill>
                  </a:tcPr>
                </a:tc>
                <a:tc>
                  <a:txBody>
                    <a:bodyPr/>
                    <a:lstStyle/>
                    <a:p>
                      <a:pPr algn="l"/>
                      <a:r>
                        <a:rPr sz="1500" b="0" i="0" u="none">
                          <a:solidFill>
                            <a:srgbClr val="F8FAFC"/>
                          </a:solidFill>
                          <a:latin typeface="Space Grotesk SemiBold"/>
                        </a:rPr>
                        <a:t>Key Technologies</a:t>
                      </a:r>
                    </a:p>
                  </a:txBody>
                  <a:tcPr marL="63500" marR="63500" marT="25400" marB="25400" anchor="ctr">
                    <a:lnL>
                      <a:noFill/>
                    </a:lnL>
                    <a:lnR>
                      <a:noFill/>
                    </a:lnR>
                    <a:lnT>
                      <a:noFill/>
                    </a:lnT>
                    <a:lnB>
                      <a:noFill/>
                    </a:lnB>
                    <a:solidFill>
                      <a:srgbClr val="1F2937"/>
                    </a:solidFill>
                  </a:tcPr>
                </a:tc>
                <a:extLst>
                  <a:ext uri="{0D108BD9-81ED-4DB2-BD59-A6C34878D82A}">
                    <a16:rowId xmlns:a16="http://schemas.microsoft.com/office/drawing/2014/main" val="10000"/>
                  </a:ext>
                </a:extLst>
              </a:tr>
              <a:tr h="941070">
                <a:tc>
                  <a:txBody>
                    <a:bodyPr/>
                    <a:lstStyle/>
                    <a:p>
                      <a:pPr algn="l"/>
                      <a:r>
                        <a:rPr sz="1500" b="0" i="0" u="none">
                          <a:solidFill>
                            <a:srgbClr val="94A3B8"/>
                          </a:solidFill>
                          <a:latin typeface="Inter"/>
                        </a:rPr>
                        <a:t>src/main.py</a:t>
                      </a:r>
                    </a:p>
                  </a:txBody>
                  <a:tcPr marL="63500" marR="63500" marT="25400" marB="25400" anchor="ctr">
                    <a:lnL>
                      <a:noFill/>
                    </a:lnL>
                    <a:lnR>
                      <a:noFill/>
                    </a:lnR>
                    <a:lnT>
                      <a:noFill/>
                    </a:lnT>
                    <a:lnB>
                      <a:noFill/>
                    </a:lnB>
                    <a:noFill/>
                  </a:tcPr>
                </a:tc>
                <a:tc>
                  <a:txBody>
                    <a:bodyPr/>
                    <a:lstStyle/>
                    <a:p>
                      <a:pPr algn="l"/>
                      <a:r>
                        <a:rPr sz="1500" b="0" i="0" u="none">
                          <a:solidFill>
                            <a:srgbClr val="94A3B8"/>
                          </a:solidFill>
                          <a:latin typeface="Inter"/>
                        </a:rPr>
                        <a:t>Application entry point, orchestrates pipeline, handles UI/HUD overlays and core event loop.</a:t>
                      </a:r>
                    </a:p>
                  </a:txBody>
                  <a:tcPr marL="63500" marR="63500" marT="25400" marB="25400" anchor="ctr">
                    <a:lnL>
                      <a:noFill/>
                    </a:lnL>
                    <a:lnR>
                      <a:noFill/>
                    </a:lnR>
                    <a:lnT>
                      <a:noFill/>
                    </a:lnT>
                    <a:lnB>
                      <a:noFill/>
                    </a:lnB>
                    <a:noFill/>
                  </a:tcPr>
                </a:tc>
                <a:tc>
                  <a:txBody>
                    <a:bodyPr/>
                    <a:lstStyle/>
                    <a:p>
                      <a:pPr algn="l"/>
                      <a:r>
                        <a:rPr sz="1500" b="0" i="0" u="none">
                          <a:solidFill>
                            <a:srgbClr val="94A3B8"/>
                          </a:solidFill>
                          <a:latin typeface="Inter"/>
                        </a:rPr>
                        <a:t>OpenCV</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941070">
                <a:tc>
                  <a:txBody>
                    <a:bodyPr/>
                    <a:lstStyle/>
                    <a:p>
                      <a:pPr algn="l"/>
                      <a:r>
                        <a:rPr sz="1500" b="0" i="0" u="none">
                          <a:solidFill>
                            <a:srgbClr val="94A3B8"/>
                          </a:solidFill>
                          <a:latin typeface="Inter"/>
                        </a:rPr>
                        <a:t>src/cloak.py</a:t>
                      </a:r>
                    </a:p>
                  </a:txBody>
                  <a:tcPr marL="63500" marR="63500" marT="25400" marB="25400" anchor="ctr">
                    <a:lnL>
                      <a:noFill/>
                    </a:lnL>
                    <a:lnR>
                      <a:noFill/>
                    </a:lnR>
                    <a:lnT>
                      <a:noFill/>
                    </a:lnT>
                    <a:lnB>
                      <a:noFill/>
                    </a:lnB>
                    <a:noFill/>
                  </a:tcPr>
                </a:tc>
                <a:tc>
                  <a:txBody>
                    <a:bodyPr/>
                    <a:lstStyle/>
                    <a:p>
                      <a:pPr algn="l"/>
                      <a:r>
                        <a:rPr sz="1500" b="0" i="0" u="none">
                          <a:solidFill>
                            <a:srgbClr val="94A3B8"/>
                          </a:solidFill>
                          <a:latin typeface="Inter"/>
                        </a:rPr>
                        <a:t>Core CV logic. Handles BGR-&gt;HSV, thresholding, morphology, and bitwise compositing.</a:t>
                      </a:r>
                    </a:p>
                  </a:txBody>
                  <a:tcPr marL="63500" marR="63500" marT="25400" marB="25400" anchor="ctr">
                    <a:lnL>
                      <a:noFill/>
                    </a:lnL>
                    <a:lnR>
                      <a:noFill/>
                    </a:lnR>
                    <a:lnT>
                      <a:noFill/>
                    </a:lnT>
                    <a:lnB>
                      <a:noFill/>
                    </a:lnB>
                    <a:noFill/>
                  </a:tcPr>
                </a:tc>
                <a:tc>
                  <a:txBody>
                    <a:bodyPr/>
                    <a:lstStyle/>
                    <a:p>
                      <a:pPr algn="l"/>
                      <a:r>
                        <a:rPr sz="1500" b="0" i="0" u="none">
                          <a:solidFill>
                            <a:srgbClr val="94A3B8"/>
                          </a:solidFill>
                          <a:latin typeface="Inter"/>
                        </a:rPr>
                        <a:t>NumPy, OpenCV</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2"/>
                  </a:ext>
                </a:extLst>
              </a:tr>
              <a:tr h="941070">
                <a:tc>
                  <a:txBody>
                    <a:bodyPr/>
                    <a:lstStyle/>
                    <a:p>
                      <a:pPr algn="l"/>
                      <a:r>
                        <a:rPr sz="1500" b="0" i="0" u="none">
                          <a:solidFill>
                            <a:srgbClr val="94A3B8"/>
                          </a:solidFill>
                          <a:latin typeface="Inter"/>
                        </a:rPr>
                        <a:t>src/camera.py</a:t>
                      </a:r>
                    </a:p>
                  </a:txBody>
                  <a:tcPr marL="63500" marR="63500" marT="25400" marB="25400" anchor="ctr">
                    <a:lnL>
                      <a:noFill/>
                    </a:lnL>
                    <a:lnR>
                      <a:noFill/>
                    </a:lnR>
                    <a:lnT>
                      <a:noFill/>
                    </a:lnT>
                    <a:lnB>
                      <a:noFill/>
                    </a:lnB>
                    <a:noFill/>
                  </a:tcPr>
                </a:tc>
                <a:tc>
                  <a:txBody>
                    <a:bodyPr/>
                    <a:lstStyle/>
                    <a:p>
                      <a:pPr algn="l"/>
                      <a:r>
                        <a:rPr sz="1500" b="0" i="0" u="none">
                          <a:solidFill>
                            <a:srgbClr val="94A3B8"/>
                          </a:solidFill>
                          <a:latin typeface="Inter"/>
                        </a:rPr>
                        <a:t>Webcam hardware abstraction, resolution settings, frame reading, and background capture.</a:t>
                      </a:r>
                    </a:p>
                  </a:txBody>
                  <a:tcPr marL="63500" marR="63500" marT="25400" marB="25400" anchor="ctr">
                    <a:lnL>
                      <a:noFill/>
                    </a:lnL>
                    <a:lnR>
                      <a:noFill/>
                    </a:lnR>
                    <a:lnT>
                      <a:noFill/>
                    </a:lnT>
                    <a:lnB>
                      <a:noFill/>
                    </a:lnB>
                    <a:noFill/>
                  </a:tcPr>
                </a:tc>
                <a:tc>
                  <a:txBody>
                    <a:bodyPr/>
                    <a:lstStyle/>
                    <a:p>
                      <a:pPr algn="l"/>
                      <a:r>
                        <a:rPr sz="1500" b="0" i="0" u="none">
                          <a:solidFill>
                            <a:srgbClr val="94A3B8"/>
                          </a:solidFill>
                          <a:latin typeface="Inter"/>
                        </a:rPr>
                        <a:t>OpenCV (VideoCapture)</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941070">
                <a:tc>
                  <a:txBody>
                    <a:bodyPr/>
                    <a:lstStyle/>
                    <a:p>
                      <a:pPr algn="l"/>
                      <a:r>
                        <a:rPr sz="1500" b="0" i="0" u="none">
                          <a:solidFill>
                            <a:srgbClr val="94A3B8"/>
                          </a:solidFill>
                          <a:latin typeface="Inter"/>
                        </a:rPr>
                        <a:t>src/config.py</a:t>
                      </a:r>
                    </a:p>
                  </a:txBody>
                  <a:tcPr marL="63500" marR="63500" marT="25400" marB="25400" anchor="ctr">
                    <a:lnL>
                      <a:noFill/>
                    </a:lnL>
                    <a:lnR>
                      <a:noFill/>
                    </a:lnR>
                    <a:lnT>
                      <a:noFill/>
                    </a:lnT>
                    <a:lnB>
                      <a:noFill/>
                    </a:lnB>
                    <a:noFill/>
                  </a:tcPr>
                </a:tc>
                <a:tc>
                  <a:txBody>
                    <a:bodyPr/>
                    <a:lstStyle/>
                    <a:p>
                      <a:pPr algn="l"/>
                      <a:r>
                        <a:rPr sz="1500" b="0" i="0" u="none">
                          <a:solidFill>
                            <a:srgbClr val="94A3B8"/>
                          </a:solidFill>
                          <a:latin typeface="Inter"/>
                        </a:rPr>
                        <a:t>Constants, HSV color boundary definitions, system states, and UI mappings.</a:t>
                      </a:r>
                    </a:p>
                  </a:txBody>
                  <a:tcPr marL="63500" marR="63500" marT="25400" marB="25400" anchor="ctr">
                    <a:lnL>
                      <a:noFill/>
                    </a:lnL>
                    <a:lnR>
                      <a:noFill/>
                    </a:lnR>
                    <a:lnT>
                      <a:noFill/>
                    </a:lnT>
                    <a:lnB>
                      <a:noFill/>
                    </a:lnB>
                    <a:noFill/>
                  </a:tcPr>
                </a:tc>
                <a:tc>
                  <a:txBody>
                    <a:bodyPr/>
                    <a:lstStyle/>
                    <a:p>
                      <a:pPr algn="l"/>
                      <a:r>
                        <a:rPr sz="1500" b="0" i="0" u="none">
                          <a:solidFill>
                            <a:srgbClr val="94A3B8"/>
                          </a:solidFill>
                          <a:latin typeface="Inter"/>
                        </a:rPr>
                        <a:t>Python (dataclasses)</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4"/>
                  </a:ext>
                </a:extLst>
              </a:tr>
            </a:tbl>
          </a:graphicData>
        </a:graphic>
      </p:graphicFrame>
      <p:sp>
        <p:nvSpPr>
          <p:cNvPr id="6" name="Rectangle 5"/>
          <p:cNvSpPr/>
          <p:nvPr/>
        </p:nvSpPr>
        <p:spPr>
          <a:xfrm>
            <a:off x="776287" y="2247900"/>
            <a:ext cx="1947862"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24150" y="2247900"/>
            <a:ext cx="6138267"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862417" y="2247900"/>
            <a:ext cx="2553295"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76287" y="3248025"/>
            <a:ext cx="1947862"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24150" y="3248025"/>
            <a:ext cx="6138267"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862417" y="3248025"/>
            <a:ext cx="2553295"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76287" y="4248150"/>
            <a:ext cx="1947862"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24150" y="4248150"/>
            <a:ext cx="6138267"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862417" y="4248150"/>
            <a:ext cx="2553295"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76287" y="5248275"/>
            <a:ext cx="1947862"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724150" y="5248275"/>
            <a:ext cx="6138267"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862417" y="5248275"/>
            <a:ext cx="2553295"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20548"/>
            <a:ext cx="12192000" cy="6858000"/>
          </a:xfrm>
          <a:prstGeom prst="rect">
            <a:avLst/>
          </a:prstGeom>
        </p:spPr>
      </p:pic>
      <p:pic>
        <p:nvPicPr>
          <p:cNvPr id="3" name="Picture 2" descr="image.png"/>
          <p:cNvPicPr>
            <a:picLocks noChangeAspect="1"/>
          </p:cNvPicPr>
          <p:nvPr/>
        </p:nvPicPr>
        <p:blipFill>
          <a:blip r:embed="rId3"/>
          <a:stretch>
            <a:fillRect/>
          </a:stretch>
        </p:blipFill>
        <p:spPr>
          <a:xfrm>
            <a:off x="6381750" y="2005012"/>
            <a:ext cx="5038725" cy="3810000"/>
          </a:xfrm>
          <a:prstGeom prst="rect">
            <a:avLst/>
          </a:prstGeom>
        </p:spPr>
      </p:pic>
      <p:pic>
        <p:nvPicPr>
          <p:cNvPr id="4" name="Picture 3" descr="image.png"/>
          <p:cNvPicPr>
            <a:picLocks noChangeAspect="1"/>
          </p:cNvPicPr>
          <p:nvPr/>
        </p:nvPicPr>
        <p:blipFill>
          <a:blip r:embed="rId4"/>
          <a:stretch>
            <a:fillRect/>
          </a:stretch>
        </p:blipFill>
        <p:spPr>
          <a:xfrm>
            <a:off x="6400800" y="2024062"/>
            <a:ext cx="5000625" cy="3771900"/>
          </a:xfrm>
          <a:prstGeom prst="rect">
            <a:avLst/>
          </a:prstGeom>
        </p:spPr>
      </p:pic>
      <p:sp>
        <p:nvSpPr>
          <p:cNvPr id="5" name="TextBox 4"/>
          <p:cNvSpPr txBox="1"/>
          <p:nvPr/>
        </p:nvSpPr>
        <p:spPr>
          <a:xfrm>
            <a:off x="771525" y="581025"/>
            <a:ext cx="11181397" cy="581025"/>
          </a:xfrm>
          <a:prstGeom prst="rect">
            <a:avLst/>
          </a:prstGeom>
          <a:noFill/>
        </p:spPr>
        <p:txBody>
          <a:bodyPr wrap="square" lIns="0" tIns="0" rIns="0" bIns="0" anchor="t">
            <a:spAutoFit/>
          </a:bodyPr>
          <a:lstStyle/>
          <a:p>
            <a:pPr algn="l"/>
            <a:r>
              <a:rPr sz="3600" b="0" i="0" u="none">
                <a:solidFill>
                  <a:srgbClr val="F8FAFC"/>
                </a:solidFill>
                <a:latin typeface="Space Grotesk SemiBold"/>
              </a:rPr>
              <a:t>User </a:t>
            </a:r>
            <a:r>
              <a:rPr sz="3600" b="0" i="0" u="none">
                <a:solidFill>
                  <a:srgbClr val="0EA5E9"/>
                </a:solidFill>
                <a:latin typeface="Space Grotesk SemiBold"/>
              </a:rPr>
              <a:t>Interface &amp; Controls</a:t>
            </a:r>
          </a:p>
        </p:txBody>
      </p:sp>
      <p:sp>
        <p:nvSpPr>
          <p:cNvPr id="6" name="TextBox 5"/>
          <p:cNvSpPr txBox="1"/>
          <p:nvPr/>
        </p:nvSpPr>
        <p:spPr>
          <a:xfrm>
            <a:off x="771525" y="2762250"/>
            <a:ext cx="5038725" cy="914400"/>
          </a:xfrm>
          <a:prstGeom prst="rect">
            <a:avLst/>
          </a:prstGeom>
          <a:noFill/>
        </p:spPr>
        <p:txBody>
          <a:bodyPr wrap="square" lIns="0" tIns="0" rIns="0" bIns="0" anchor="t">
            <a:spAutoFit/>
          </a:bodyPr>
          <a:lstStyle/>
          <a:p>
            <a:pPr algn="l">
              <a:lnSpc>
                <a:spcPts val="2400"/>
              </a:lnSpc>
            </a:pPr>
            <a:r>
              <a:rPr sz="1500" b="0" i="0" u="none">
                <a:solidFill>
                  <a:srgbClr val="94A3B8"/>
                </a:solidFill>
                <a:latin typeface="Inter"/>
              </a:rPr>
              <a:t>The system features a real-time HUD (Heads-Up Display) overlaying the processing metrics and state directly on the output frame.</a:t>
            </a:r>
          </a:p>
        </p:txBody>
      </p:sp>
      <p:sp>
        <p:nvSpPr>
          <p:cNvPr id="7" name="TextBox 6"/>
          <p:cNvSpPr txBox="1"/>
          <p:nvPr/>
        </p:nvSpPr>
        <p:spPr>
          <a:xfrm>
            <a:off x="771525" y="3867150"/>
            <a:ext cx="2424112" cy="600075"/>
          </a:xfrm>
          <a:prstGeom prst="rect">
            <a:avLst/>
          </a:prstGeom>
          <a:noFill/>
        </p:spPr>
        <p:txBody>
          <a:bodyPr wrap="square" lIns="0" tIns="0" rIns="0" bIns="0" anchor="t">
            <a:spAutoFit/>
          </a:bodyPr>
          <a:lstStyle/>
          <a:p>
            <a:pPr algn="l"/>
            <a:r>
              <a:rPr sz="1200" b="1" i="0" u="none">
                <a:solidFill>
                  <a:srgbClr val="0EA5E9"/>
                </a:solidFill>
                <a:latin typeface="JetBrains Mono"/>
              </a:rPr>
              <a:t>[1,2,3,4]</a:t>
            </a:r>
            <a:r>
              <a:t>
</a:t>
            </a:r>
            <a:r>
              <a:rPr sz="1200" b="0" i="0" u="none">
                <a:solidFill>
                  <a:srgbClr val="000000"/>
                </a:solidFill>
                <a:latin typeface="JetBrains Mono"/>
              </a:rPr>
              <a:t> Select Color (B/R/G/P)</a:t>
            </a:r>
          </a:p>
        </p:txBody>
      </p:sp>
      <p:sp>
        <p:nvSpPr>
          <p:cNvPr id="8" name="TextBox 7"/>
          <p:cNvSpPr txBox="1"/>
          <p:nvPr/>
        </p:nvSpPr>
        <p:spPr>
          <a:xfrm>
            <a:off x="3386137" y="3867150"/>
            <a:ext cx="2424112" cy="600075"/>
          </a:xfrm>
          <a:prstGeom prst="rect">
            <a:avLst/>
          </a:prstGeom>
          <a:noFill/>
        </p:spPr>
        <p:txBody>
          <a:bodyPr wrap="square" lIns="0" tIns="0" rIns="0" bIns="0" anchor="t">
            <a:spAutoFit/>
          </a:bodyPr>
          <a:lstStyle/>
          <a:p>
            <a:pPr algn="l"/>
            <a:r>
              <a:rPr sz="1200" b="1" i="0" u="none">
                <a:solidFill>
                  <a:srgbClr val="0EA5E9"/>
                </a:solidFill>
                <a:latin typeface="JetBrains Mono"/>
              </a:rPr>
              <a:t>[B]</a:t>
            </a:r>
            <a:r>
              <a:t>
</a:t>
            </a:r>
            <a:r>
              <a:rPr sz="1200" b="0" i="0" u="none">
                <a:solidFill>
                  <a:srgbClr val="000000"/>
                </a:solidFill>
                <a:latin typeface="JetBrains Mono"/>
              </a:rPr>
              <a:t> Capture Background (3s timer)</a:t>
            </a:r>
          </a:p>
        </p:txBody>
      </p:sp>
      <p:sp>
        <p:nvSpPr>
          <p:cNvPr id="9" name="TextBox 8"/>
          <p:cNvSpPr txBox="1"/>
          <p:nvPr/>
        </p:nvSpPr>
        <p:spPr>
          <a:xfrm>
            <a:off x="771525" y="4657725"/>
            <a:ext cx="2424112" cy="400050"/>
          </a:xfrm>
          <a:prstGeom prst="rect">
            <a:avLst/>
          </a:prstGeom>
          <a:noFill/>
        </p:spPr>
        <p:txBody>
          <a:bodyPr wrap="square" lIns="0" tIns="0" rIns="0" bIns="0" anchor="t">
            <a:spAutoFit/>
          </a:bodyPr>
          <a:lstStyle/>
          <a:p>
            <a:pPr algn="l"/>
            <a:r>
              <a:rPr sz="1200" b="1" i="0" u="none">
                <a:solidFill>
                  <a:srgbClr val="0EA5E9"/>
                </a:solidFill>
                <a:latin typeface="JetBrains Mono"/>
              </a:rPr>
              <a:t>[R]</a:t>
            </a:r>
            <a:r>
              <a:t>
</a:t>
            </a:r>
            <a:r>
              <a:rPr sz="1200" b="0" i="0" u="none">
                <a:solidFill>
                  <a:srgbClr val="000000"/>
                </a:solidFill>
                <a:latin typeface="JetBrains Mono"/>
              </a:rPr>
              <a:t> Reset Background</a:t>
            </a:r>
          </a:p>
        </p:txBody>
      </p:sp>
      <p:sp>
        <p:nvSpPr>
          <p:cNvPr id="10" name="TextBox 9"/>
          <p:cNvSpPr txBox="1"/>
          <p:nvPr/>
        </p:nvSpPr>
        <p:spPr>
          <a:xfrm>
            <a:off x="3386137" y="4657725"/>
            <a:ext cx="2424112" cy="400050"/>
          </a:xfrm>
          <a:prstGeom prst="rect">
            <a:avLst/>
          </a:prstGeom>
          <a:noFill/>
        </p:spPr>
        <p:txBody>
          <a:bodyPr wrap="square" lIns="0" tIns="0" rIns="0" bIns="0" anchor="t">
            <a:spAutoFit/>
          </a:bodyPr>
          <a:lstStyle/>
          <a:p>
            <a:pPr algn="l"/>
            <a:r>
              <a:rPr sz="1200" b="1" i="0" u="none" dirty="0">
                <a:solidFill>
                  <a:srgbClr val="0EA5E9"/>
                </a:solidFill>
                <a:latin typeface="JetBrains Mono"/>
              </a:rPr>
              <a:t>[SPACE]</a:t>
            </a:r>
            <a:r>
              <a:rPr dirty="0"/>
              <a:t>
</a:t>
            </a:r>
            <a:r>
              <a:rPr sz="1200" b="0" i="0" u="none" dirty="0">
                <a:solidFill>
                  <a:srgbClr val="000000"/>
                </a:solidFill>
                <a:latin typeface="JetBrains Mono"/>
              </a:rPr>
              <a:t> Pause / Resume</a:t>
            </a:r>
          </a:p>
        </p:txBody>
      </p:sp>
      <p:pic>
        <p:nvPicPr>
          <p:cNvPr id="11" name="Picture 10" descr="image.png"/>
          <p:cNvPicPr>
            <a:picLocks noChangeAspect="1"/>
          </p:cNvPicPr>
          <p:nvPr/>
        </p:nvPicPr>
        <p:blipFill>
          <a:blip r:embed="rId5"/>
          <a:stretch>
            <a:fillRect/>
          </a:stretch>
        </p:blipFill>
        <p:spPr>
          <a:xfrm>
            <a:off x="8567737" y="3529012"/>
            <a:ext cx="666750" cy="762000"/>
          </a:xfrm>
          <a:prstGeom prst="rect">
            <a:avLst/>
          </a:prstGeom>
        </p:spPr>
      </p:pic>
      <p:sp>
        <p:nvSpPr>
          <p:cNvPr id="12" name="TextBox 11"/>
          <p:cNvSpPr txBox="1"/>
          <p:nvPr/>
        </p:nvSpPr>
        <p:spPr>
          <a:xfrm>
            <a:off x="6591300" y="2214562"/>
            <a:ext cx="2133600" cy="171450"/>
          </a:xfrm>
          <a:prstGeom prst="rect">
            <a:avLst/>
          </a:prstGeom>
          <a:noFill/>
        </p:spPr>
        <p:txBody>
          <a:bodyPr wrap="square" lIns="0" tIns="0" rIns="0" bIns="0" anchor="t">
            <a:spAutoFit/>
          </a:bodyPr>
          <a:lstStyle/>
          <a:p>
            <a:pPr algn="l"/>
            <a:r>
              <a:rPr sz="1050" b="0" i="0" u="none">
                <a:solidFill>
                  <a:srgbClr val="10B981"/>
                </a:solidFill>
                <a:latin typeface="JetBrains Mono"/>
              </a:rPr>
              <a:t>FPS: 30.2 | Processing: 12ms</a:t>
            </a:r>
          </a:p>
        </p:txBody>
      </p:sp>
      <p:sp>
        <p:nvSpPr>
          <p:cNvPr id="13" name="TextBox 12"/>
          <p:cNvSpPr txBox="1"/>
          <p:nvPr/>
        </p:nvSpPr>
        <p:spPr>
          <a:xfrm>
            <a:off x="9686925" y="2214562"/>
            <a:ext cx="1524000" cy="171450"/>
          </a:xfrm>
          <a:prstGeom prst="rect">
            <a:avLst/>
          </a:prstGeom>
          <a:noFill/>
        </p:spPr>
        <p:txBody>
          <a:bodyPr wrap="square" lIns="0" tIns="0" rIns="0" bIns="0" anchor="t">
            <a:spAutoFit/>
          </a:bodyPr>
          <a:lstStyle/>
          <a:p>
            <a:pPr algn="l"/>
            <a:r>
              <a:rPr sz="1050" b="0" i="0" u="none">
                <a:solidFill>
                  <a:srgbClr val="8B5CF6"/>
                </a:solidFill>
                <a:latin typeface="JetBrains Mono"/>
              </a:rPr>
              <a:t>Target: RED (Active)</a:t>
            </a:r>
          </a:p>
        </p:txBody>
      </p:sp>
      <p:sp>
        <p:nvSpPr>
          <p:cNvPr id="14" name="TextBox 13"/>
          <p:cNvSpPr txBox="1"/>
          <p:nvPr/>
        </p:nvSpPr>
        <p:spPr>
          <a:xfrm>
            <a:off x="6591300" y="5434012"/>
            <a:ext cx="3733800" cy="171450"/>
          </a:xfrm>
          <a:prstGeom prst="rect">
            <a:avLst/>
          </a:prstGeom>
          <a:noFill/>
        </p:spPr>
        <p:txBody>
          <a:bodyPr wrap="square" lIns="0" tIns="0" rIns="0" bIns="0" anchor="t">
            <a:spAutoFit/>
          </a:bodyPr>
          <a:lstStyle/>
          <a:p>
            <a:pPr algn="l"/>
            <a:r>
              <a:rPr sz="1050" b="0" i="0" u="none">
                <a:solidFill>
                  <a:srgbClr val="94A3B8"/>
                </a:solidFill>
                <a:latin typeface="JetBrains Mono"/>
              </a:rPr>
              <a:t>B: Capture | 1-4: Colors | Space: Pause | Q: Quit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71525" y="581025"/>
            <a:ext cx="11181397" cy="581025"/>
          </a:xfrm>
          <a:prstGeom prst="rect">
            <a:avLst/>
          </a:prstGeom>
          <a:noFill/>
        </p:spPr>
        <p:txBody>
          <a:bodyPr wrap="square" lIns="0" tIns="0" rIns="0" bIns="0" anchor="t">
            <a:spAutoFit/>
          </a:bodyPr>
          <a:lstStyle/>
          <a:p>
            <a:pPr algn="l"/>
            <a:r>
              <a:rPr sz="3600" b="0" i="0" u="none">
                <a:solidFill>
                  <a:srgbClr val="F8FAFC"/>
                </a:solidFill>
                <a:latin typeface="Space Grotesk SemiBold"/>
              </a:rPr>
              <a:t>Software </a:t>
            </a:r>
            <a:r>
              <a:rPr sz="3600" b="0" i="0" u="none">
                <a:solidFill>
                  <a:srgbClr val="8B5CF6"/>
                </a:solidFill>
                <a:latin typeface="Space Grotesk SemiBold"/>
              </a:rPr>
              <a:t>Requirements (SRS)</a:t>
            </a:r>
          </a:p>
        </p:txBody>
      </p:sp>
      <p:sp>
        <p:nvSpPr>
          <p:cNvPr id="4" name="Rounded Rectangle 3"/>
          <p:cNvSpPr/>
          <p:nvPr/>
        </p:nvSpPr>
        <p:spPr>
          <a:xfrm>
            <a:off x="771525" y="1543050"/>
            <a:ext cx="10648950" cy="5095875"/>
          </a:xfrm>
          <a:prstGeom prst="roundRect">
            <a:avLst>
              <a:gd name="adj" fmla="val 0"/>
            </a:avLst>
          </a:prstGeom>
          <a:solidFill>
            <a:srgbClr val="18181B"/>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771525" y="1543050"/>
          <a:ext cx="10639424" cy="5095875"/>
        </p:xfrm>
        <a:graphic>
          <a:graphicData uri="http://schemas.openxmlformats.org/drawingml/2006/table">
            <a:tbl>
              <a:tblPr firstRow="1" bandRow="1">
                <a:tableStyleId>{5C22544A-7EE6-4342-B048-85BDC9FD1C3A}</a:tableStyleId>
              </a:tblPr>
              <a:tblGrid>
                <a:gridCol w="1844278">
                  <a:extLst>
                    <a:ext uri="{9D8B030D-6E8A-4147-A177-3AD203B41FA5}">
                      <a16:colId xmlns:a16="http://schemas.microsoft.com/office/drawing/2014/main" val="20000"/>
                    </a:ext>
                  </a:extLst>
                </a:gridCol>
                <a:gridCol w="8795146">
                  <a:extLst>
                    <a:ext uri="{9D8B030D-6E8A-4147-A177-3AD203B41FA5}">
                      <a16:colId xmlns:a16="http://schemas.microsoft.com/office/drawing/2014/main" val="20001"/>
                    </a:ext>
                  </a:extLst>
                </a:gridCol>
              </a:tblGrid>
              <a:tr h="849312">
                <a:tc>
                  <a:txBody>
                    <a:bodyPr/>
                    <a:lstStyle/>
                    <a:p>
                      <a:pPr algn="l"/>
                      <a:r>
                        <a:rPr sz="1500" b="0" i="0" u="none">
                          <a:solidFill>
                            <a:srgbClr val="F8FAFC"/>
                          </a:solidFill>
                          <a:latin typeface="Space Grotesk SemiBold"/>
                        </a:rPr>
                        <a:t>Category</a:t>
                      </a:r>
                    </a:p>
                  </a:txBody>
                  <a:tcPr marL="63500" marR="63500" marT="25400" marB="25400" anchor="ctr">
                    <a:lnL>
                      <a:noFill/>
                    </a:lnL>
                    <a:lnR>
                      <a:noFill/>
                    </a:lnR>
                    <a:lnT>
                      <a:noFill/>
                    </a:lnT>
                    <a:lnB>
                      <a:noFill/>
                    </a:lnB>
                    <a:solidFill>
                      <a:srgbClr val="1F2937"/>
                    </a:solidFill>
                  </a:tcPr>
                </a:tc>
                <a:tc>
                  <a:txBody>
                    <a:bodyPr/>
                    <a:lstStyle/>
                    <a:p>
                      <a:pPr algn="l"/>
                      <a:r>
                        <a:rPr sz="1500" b="0" i="0" u="none">
                          <a:solidFill>
                            <a:srgbClr val="F8FAFC"/>
                          </a:solidFill>
                          <a:latin typeface="Space Grotesk SemiBold"/>
                        </a:rPr>
                        <a:t>Requirement / Specification</a:t>
                      </a:r>
                    </a:p>
                  </a:txBody>
                  <a:tcPr marL="63500" marR="63500" marT="25400" marB="25400" anchor="ctr">
                    <a:lnL>
                      <a:noFill/>
                    </a:lnL>
                    <a:lnR>
                      <a:noFill/>
                    </a:lnR>
                    <a:lnT>
                      <a:noFill/>
                    </a:lnT>
                    <a:lnB>
                      <a:noFill/>
                    </a:lnB>
                    <a:solidFill>
                      <a:srgbClr val="1F2937"/>
                    </a:solidFill>
                  </a:tcPr>
                </a:tc>
                <a:extLst>
                  <a:ext uri="{0D108BD9-81ED-4DB2-BD59-A6C34878D82A}">
                    <a16:rowId xmlns:a16="http://schemas.microsoft.com/office/drawing/2014/main" val="10000"/>
                  </a:ext>
                </a:extLst>
              </a:tr>
              <a:tr h="849312">
                <a:tc>
                  <a:txBody>
                    <a:bodyPr/>
                    <a:lstStyle/>
                    <a:p>
                      <a:pPr algn="l"/>
                      <a:r>
                        <a:rPr sz="1500" b="1" i="0" u="none">
                          <a:solidFill>
                            <a:srgbClr val="8B5CF6"/>
                          </a:solidFill>
                          <a:latin typeface="Inter"/>
                        </a:rPr>
                        <a:t>Functional</a:t>
                      </a:r>
                    </a:p>
                  </a:txBody>
                  <a:tcPr marL="63500" marR="63500" marT="25400" marB="25400" anchor="ctr">
                    <a:lnL>
                      <a:noFill/>
                    </a:lnL>
                    <a:lnR>
                      <a:noFill/>
                    </a:lnR>
                    <a:lnT>
                      <a:noFill/>
                    </a:lnT>
                    <a:lnB>
                      <a:noFill/>
                    </a:lnB>
                    <a:noFill/>
                  </a:tcPr>
                </a:tc>
                <a:tc>
                  <a:txBody>
                    <a:bodyPr/>
                    <a:lstStyle/>
                    <a:p>
                      <a:pPr algn="l"/>
                      <a:r>
                        <a:rPr sz="1500" b="0" i="0" u="none">
                          <a:solidFill>
                            <a:srgbClr val="94A3B8"/>
                          </a:solidFill>
                          <a:latin typeface="Inter"/>
                        </a:rPr>
                        <a:t>System must support live switching between 4 distinct target colors without restart.</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849312">
                <a:tc>
                  <a:txBody>
                    <a:bodyPr/>
                    <a:lstStyle/>
                    <a:p>
                      <a:pPr algn="l"/>
                      <a:r>
                        <a:rPr sz="1500" b="1" i="0" u="none">
                          <a:solidFill>
                            <a:srgbClr val="8B5CF6"/>
                          </a:solidFill>
                          <a:latin typeface="Inter"/>
                        </a:rPr>
                        <a:t>Functional</a:t>
                      </a:r>
                    </a:p>
                  </a:txBody>
                  <a:tcPr marL="63500" marR="63500" marT="25400" marB="25400" anchor="ctr">
                    <a:lnL>
                      <a:noFill/>
                    </a:lnL>
                    <a:lnR>
                      <a:noFill/>
                    </a:lnR>
                    <a:lnT>
                      <a:noFill/>
                    </a:lnT>
                    <a:lnB>
                      <a:noFill/>
                    </a:lnB>
                    <a:noFill/>
                  </a:tcPr>
                </a:tc>
                <a:tc>
                  <a:txBody>
                    <a:bodyPr/>
                    <a:lstStyle/>
                    <a:p>
                      <a:pPr algn="l"/>
                      <a:r>
                        <a:rPr sz="1500" b="0" i="0" u="none">
                          <a:solidFill>
                            <a:srgbClr val="94A3B8"/>
                          </a:solidFill>
                          <a:latin typeface="Inter"/>
                        </a:rPr>
                        <a:t>Must include a 3-second visual countdown prior to saving the background reference frame.</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2"/>
                  </a:ext>
                </a:extLst>
              </a:tr>
              <a:tr h="849312">
                <a:tc>
                  <a:txBody>
                    <a:bodyPr/>
                    <a:lstStyle/>
                    <a:p>
                      <a:pPr algn="l"/>
                      <a:r>
                        <a:rPr sz="1500" b="1" i="0" u="none">
                          <a:solidFill>
                            <a:srgbClr val="0EA5E9"/>
                          </a:solidFill>
                          <a:latin typeface="Inter"/>
                        </a:rPr>
                        <a:t>Non-Functional</a:t>
                      </a:r>
                    </a:p>
                  </a:txBody>
                  <a:tcPr marL="63500" marR="63500" marT="25400" marB="25400" anchor="ctr">
                    <a:lnL>
                      <a:noFill/>
                    </a:lnL>
                    <a:lnR>
                      <a:noFill/>
                    </a:lnR>
                    <a:lnT>
                      <a:noFill/>
                    </a:lnT>
                    <a:lnB>
                      <a:noFill/>
                    </a:lnB>
                    <a:noFill/>
                  </a:tcPr>
                </a:tc>
                <a:tc>
                  <a:txBody>
                    <a:bodyPr/>
                    <a:lstStyle/>
                    <a:p>
                      <a:pPr algn="l"/>
                      <a:r>
                        <a:rPr sz="1500" b="0" i="0" u="none">
                          <a:solidFill>
                            <a:srgbClr val="94A3B8"/>
                          </a:solidFill>
                          <a:latin typeface="Inter"/>
                        </a:rPr>
                        <a:t>Processing pipeline must execute in under 33ms per frame to maintain a baseline 30 FPS.</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849312">
                <a:tc>
                  <a:txBody>
                    <a:bodyPr/>
                    <a:lstStyle/>
                    <a:p>
                      <a:pPr algn="l"/>
                      <a:r>
                        <a:rPr sz="1500" b="1" i="0" u="none">
                          <a:solidFill>
                            <a:srgbClr val="0EA5E9"/>
                          </a:solidFill>
                          <a:latin typeface="Inter"/>
                        </a:rPr>
                        <a:t>Non-Functional</a:t>
                      </a:r>
                    </a:p>
                  </a:txBody>
                  <a:tcPr marL="63500" marR="63500" marT="25400" marB="25400" anchor="ctr">
                    <a:lnL>
                      <a:noFill/>
                    </a:lnL>
                    <a:lnR>
                      <a:noFill/>
                    </a:lnR>
                    <a:lnT>
                      <a:noFill/>
                    </a:lnT>
                    <a:lnB>
                      <a:noFill/>
                    </a:lnB>
                    <a:noFill/>
                  </a:tcPr>
                </a:tc>
                <a:tc>
                  <a:txBody>
                    <a:bodyPr/>
                    <a:lstStyle/>
                    <a:p>
                      <a:pPr algn="l"/>
                      <a:r>
                        <a:rPr sz="1500" b="0" i="0" u="none">
                          <a:solidFill>
                            <a:srgbClr val="94A3B8"/>
                          </a:solidFill>
                          <a:latin typeface="Inter"/>
                        </a:rPr>
                        <a:t>Application must handle resolution scaling (process at 640p, display at 720p) for performance.</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4"/>
                  </a:ext>
                </a:extLst>
              </a:tr>
              <a:tr h="849315">
                <a:tc>
                  <a:txBody>
                    <a:bodyPr/>
                    <a:lstStyle/>
                    <a:p>
                      <a:pPr algn="l"/>
                      <a:r>
                        <a:rPr sz="1500" b="1" i="0" u="none">
                          <a:solidFill>
                            <a:srgbClr val="10B981"/>
                          </a:solidFill>
                          <a:latin typeface="Inter"/>
                        </a:rPr>
                        <a:t>Error Handling</a:t>
                      </a:r>
                    </a:p>
                  </a:txBody>
                  <a:tcPr marL="63500" marR="63500" marT="25400" marB="25400" anchor="ctr">
                    <a:lnL>
                      <a:noFill/>
                    </a:lnL>
                    <a:lnR>
                      <a:noFill/>
                    </a:lnR>
                    <a:lnT>
                      <a:noFill/>
                    </a:lnT>
                    <a:lnB>
                      <a:noFill/>
                    </a:lnB>
                    <a:noFill/>
                  </a:tcPr>
                </a:tc>
                <a:tc>
                  <a:txBody>
                    <a:bodyPr/>
                    <a:lstStyle/>
                    <a:p>
                      <a:pPr algn="l"/>
                      <a:r>
                        <a:rPr sz="1500" b="0" i="0" u="none">
                          <a:solidFill>
                            <a:srgbClr val="94A3B8"/>
                          </a:solidFill>
                          <a:latin typeface="Inter"/>
                        </a:rPr>
                        <a:t>System must gracefully handle camera disconnects and missing initial background states.</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
        <p:nvSpPr>
          <p:cNvPr id="6" name="Rectangle 5"/>
          <p:cNvSpPr/>
          <p:nvPr/>
        </p:nvSpPr>
        <p:spPr>
          <a:xfrm>
            <a:off x="776287" y="2233612"/>
            <a:ext cx="1844278"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620565" y="2233612"/>
            <a:ext cx="8795146"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6287" y="2928937"/>
            <a:ext cx="1844278"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620565" y="2928937"/>
            <a:ext cx="8795146"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6287" y="3929062"/>
            <a:ext cx="1844278"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620565" y="3929062"/>
            <a:ext cx="8795146"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76287" y="4929187"/>
            <a:ext cx="1844278"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620565" y="4929187"/>
            <a:ext cx="8795146"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76287" y="5929312"/>
            <a:ext cx="1844278"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620565" y="5929312"/>
            <a:ext cx="8795146" cy="9525"/>
          </a:xfrm>
          <a:prstGeom prst="rect">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71525" y="581025"/>
            <a:ext cx="11181397" cy="581025"/>
          </a:xfrm>
          <a:prstGeom prst="rect">
            <a:avLst/>
          </a:prstGeom>
          <a:noFill/>
        </p:spPr>
        <p:txBody>
          <a:bodyPr wrap="square" lIns="0" tIns="0" rIns="0" bIns="0" anchor="t">
            <a:spAutoFit/>
          </a:bodyPr>
          <a:lstStyle/>
          <a:p>
            <a:pPr algn="l"/>
            <a:r>
              <a:rPr sz="3600" b="0" i="0" u="none">
                <a:solidFill>
                  <a:srgbClr val="F8FAFC"/>
                </a:solidFill>
                <a:latin typeface="Space Grotesk SemiBold"/>
              </a:rPr>
              <a:t>Engineering: </a:t>
            </a:r>
            <a:r>
              <a:rPr sz="3600" b="0" i="0" u="none">
                <a:solidFill>
                  <a:srgbClr val="0EA5E9"/>
                </a:solidFill>
                <a:latin typeface="Space Grotesk SemiBold"/>
              </a:rPr>
              <a:t>Automated Testing</a:t>
            </a:r>
          </a:p>
        </p:txBody>
      </p:sp>
      <p:sp>
        <p:nvSpPr>
          <p:cNvPr id="4" name="TextBox 3"/>
          <p:cNvSpPr txBox="1"/>
          <p:nvPr/>
        </p:nvSpPr>
        <p:spPr>
          <a:xfrm>
            <a:off x="2653158" y="2833687"/>
            <a:ext cx="1028700" cy="1714500"/>
          </a:xfrm>
          <a:prstGeom prst="rect">
            <a:avLst/>
          </a:prstGeom>
          <a:noFill/>
        </p:spPr>
        <p:txBody>
          <a:bodyPr wrap="square" lIns="0" tIns="0" rIns="0" bIns="0" anchor="t">
            <a:spAutoFit/>
          </a:bodyPr>
          <a:lstStyle/>
          <a:p>
            <a:pPr algn="ctr">
              <a:lnSpc>
                <a:spcPts val="13500"/>
              </a:lnSpc>
              <a:defRPr/>
            </a:pPr>
            <a:r>
              <a:rPr sz="13500" b="1" i="0" u="none">
                <a:solidFill>
                  <a:srgbClr val="0EA5E9"/>
                </a:solidFill>
                <a:latin typeface="JetBrains Mono"/>
              </a:rPr>
              <a:t>9</a:t>
            </a:r>
          </a:p>
        </p:txBody>
      </p:sp>
      <p:sp>
        <p:nvSpPr>
          <p:cNvPr id="5" name="TextBox 4"/>
          <p:cNvSpPr txBox="1"/>
          <p:nvPr/>
        </p:nvSpPr>
        <p:spPr>
          <a:xfrm>
            <a:off x="1814958" y="4643437"/>
            <a:ext cx="2705100" cy="342900"/>
          </a:xfrm>
          <a:prstGeom prst="rect">
            <a:avLst/>
          </a:prstGeom>
          <a:noFill/>
        </p:spPr>
        <p:txBody>
          <a:bodyPr wrap="square" lIns="0" tIns="0" rIns="0" bIns="0" anchor="t">
            <a:spAutoFit/>
          </a:bodyPr>
          <a:lstStyle/>
          <a:p>
            <a:pPr algn="ctr"/>
            <a:r>
              <a:rPr sz="2100" b="0" i="0" u="none">
                <a:solidFill>
                  <a:srgbClr val="F8FAFC"/>
                </a:solidFill>
                <a:latin typeface="Space Grotesk"/>
              </a:rPr>
              <a:t>Pytest Cases Passed</a:t>
            </a:r>
          </a:p>
        </p:txBody>
      </p:sp>
      <p:sp>
        <p:nvSpPr>
          <p:cNvPr id="6" name="TextBox 5"/>
          <p:cNvSpPr txBox="1"/>
          <p:nvPr/>
        </p:nvSpPr>
        <p:spPr>
          <a:xfrm>
            <a:off x="6134992" y="2157412"/>
            <a:ext cx="5285482" cy="609600"/>
          </a:xfrm>
          <a:prstGeom prst="rect">
            <a:avLst/>
          </a:prstGeom>
          <a:noFill/>
        </p:spPr>
        <p:txBody>
          <a:bodyPr wrap="square" lIns="0" tIns="0" rIns="0" bIns="0" anchor="t">
            <a:spAutoFit/>
          </a:bodyPr>
          <a:lstStyle/>
          <a:p>
            <a:pPr algn="l">
              <a:lnSpc>
                <a:spcPts val="2400"/>
              </a:lnSpc>
            </a:pPr>
            <a:r>
              <a:rPr sz="1500" b="0" i="0" u="none">
                <a:solidFill>
                  <a:srgbClr val="94A3B8"/>
                </a:solidFill>
                <a:latin typeface="Inter"/>
              </a:rPr>
              <a:t>Automated testing ensures core matrix mathematics and configuration logic remain stable across updates.</a:t>
            </a:r>
          </a:p>
        </p:txBody>
      </p:sp>
      <p:sp>
        <p:nvSpPr>
          <p:cNvPr id="7" name="TextBox 6"/>
          <p:cNvSpPr txBox="1"/>
          <p:nvPr/>
        </p:nvSpPr>
        <p:spPr>
          <a:xfrm>
            <a:off x="6420742" y="2957512"/>
            <a:ext cx="4999732" cy="609600"/>
          </a:xfrm>
          <a:prstGeom prst="rect">
            <a:avLst/>
          </a:prstGeom>
          <a:noFill/>
        </p:spPr>
        <p:txBody>
          <a:bodyPr wrap="square" lIns="0" tIns="0" rIns="0" bIns="0" anchor="t">
            <a:spAutoFit/>
          </a:bodyPr>
          <a:lstStyle/>
          <a:p>
            <a:pPr algn="l">
              <a:lnSpc>
                <a:spcPts val="2400"/>
              </a:lnSpc>
            </a:pPr>
            <a:r>
              <a:rPr sz="1500" b="1" i="0" u="none">
                <a:solidFill>
                  <a:srgbClr val="94A3B8"/>
                </a:solidFill>
                <a:latin typeface="Inter"/>
              </a:rPr>
              <a:t>Unit Tests (test_cloak.py):</a:t>
            </a:r>
            <a:r>
              <a:rPr sz="1500" b="0" i="0" u="none">
                <a:solidFill>
                  <a:srgbClr val="94A3B8"/>
                </a:solidFill>
                <a:latin typeface="Inter"/>
              </a:rPr>
              <a:t> Validates correct mask dimensions against synthetic NumPy arrays.</a:t>
            </a:r>
          </a:p>
        </p:txBody>
      </p:sp>
      <p:sp>
        <p:nvSpPr>
          <p:cNvPr id="8" name="TextBox 7"/>
          <p:cNvSpPr txBox="1"/>
          <p:nvPr/>
        </p:nvSpPr>
        <p:spPr>
          <a:xfrm>
            <a:off x="6420742" y="3757612"/>
            <a:ext cx="4999732" cy="914400"/>
          </a:xfrm>
          <a:prstGeom prst="rect">
            <a:avLst/>
          </a:prstGeom>
          <a:noFill/>
        </p:spPr>
        <p:txBody>
          <a:bodyPr wrap="square" lIns="0" tIns="0" rIns="0" bIns="0" anchor="t">
            <a:spAutoFit/>
          </a:bodyPr>
          <a:lstStyle/>
          <a:p>
            <a:pPr algn="l">
              <a:lnSpc>
                <a:spcPts val="2400"/>
              </a:lnSpc>
            </a:pPr>
            <a:r>
              <a:rPr sz="1500" b="1" i="0" u="none">
                <a:solidFill>
                  <a:srgbClr val="94A3B8"/>
                </a:solidFill>
                <a:latin typeface="Inter"/>
              </a:rPr>
              <a:t>Color Validation:</a:t>
            </a:r>
            <a:r>
              <a:rPr sz="1500" b="0" i="0" u="none">
                <a:solidFill>
                  <a:srgbClr val="94A3B8"/>
                </a:solidFill>
                <a:latin typeface="Inter"/>
              </a:rPr>
              <a:t> Ensures all predefined HSV ranges are syntactically correct and within OpenCV's 0-180 / 0-255 bounds.</a:t>
            </a:r>
          </a:p>
        </p:txBody>
      </p:sp>
      <p:sp>
        <p:nvSpPr>
          <p:cNvPr id="9" name="TextBox 8"/>
          <p:cNvSpPr txBox="1"/>
          <p:nvPr/>
        </p:nvSpPr>
        <p:spPr>
          <a:xfrm>
            <a:off x="6420742" y="4862512"/>
            <a:ext cx="4999732" cy="609600"/>
          </a:xfrm>
          <a:prstGeom prst="rect">
            <a:avLst/>
          </a:prstGeom>
          <a:noFill/>
        </p:spPr>
        <p:txBody>
          <a:bodyPr wrap="square" lIns="0" tIns="0" rIns="0" bIns="0" anchor="t">
            <a:spAutoFit/>
          </a:bodyPr>
          <a:lstStyle/>
          <a:p>
            <a:pPr algn="l">
              <a:lnSpc>
                <a:spcPts val="2400"/>
              </a:lnSpc>
            </a:pPr>
            <a:r>
              <a:rPr sz="1500" b="1" i="0" u="none">
                <a:solidFill>
                  <a:srgbClr val="94A3B8"/>
                </a:solidFill>
                <a:latin typeface="Inter"/>
              </a:rPr>
              <a:t>State Management:</a:t>
            </a:r>
            <a:r>
              <a:rPr sz="1500" b="0" i="0" u="none">
                <a:solidFill>
                  <a:srgbClr val="94A3B8"/>
                </a:solidFill>
                <a:latin typeface="Inter"/>
              </a:rPr>
              <a:t> Tests config initialization and default parameter injection.</a:t>
            </a:r>
          </a:p>
        </p:txBody>
      </p:sp>
      <p:sp>
        <p:nvSpPr>
          <p:cNvPr id="10" name="TextBox 9"/>
          <p:cNvSpPr txBox="1"/>
          <p:nvPr/>
        </p:nvSpPr>
        <p:spPr>
          <a:xfrm>
            <a:off x="6134992" y="2957512"/>
            <a:ext cx="190500" cy="304800"/>
          </a:xfrm>
          <a:prstGeom prst="rect">
            <a:avLst/>
          </a:prstGeom>
          <a:noFill/>
        </p:spPr>
        <p:txBody>
          <a:bodyPr wrap="square" lIns="0" tIns="0" rIns="0" bIns="0" anchor="t">
            <a:spAutoFit/>
          </a:bodyPr>
          <a:lstStyle/>
          <a:p>
            <a:pPr algn="l">
              <a:lnSpc>
                <a:spcPts val="2400"/>
              </a:lnSpc>
            </a:pPr>
            <a:r>
              <a:rPr sz="1500" b="1" i="0" u="none">
                <a:solidFill>
                  <a:srgbClr val="0EA5E9"/>
                </a:solidFill>
                <a:latin typeface="JetBrains Mono"/>
              </a:rPr>
              <a:t>→</a:t>
            </a:r>
          </a:p>
        </p:txBody>
      </p:sp>
      <p:sp>
        <p:nvSpPr>
          <p:cNvPr id="11" name="TextBox 10"/>
          <p:cNvSpPr txBox="1"/>
          <p:nvPr/>
        </p:nvSpPr>
        <p:spPr>
          <a:xfrm>
            <a:off x="6134992" y="3757612"/>
            <a:ext cx="190500" cy="304800"/>
          </a:xfrm>
          <a:prstGeom prst="rect">
            <a:avLst/>
          </a:prstGeom>
          <a:noFill/>
        </p:spPr>
        <p:txBody>
          <a:bodyPr wrap="square" lIns="0" tIns="0" rIns="0" bIns="0" anchor="t">
            <a:spAutoFit/>
          </a:bodyPr>
          <a:lstStyle/>
          <a:p>
            <a:pPr algn="l">
              <a:lnSpc>
                <a:spcPts val="2400"/>
              </a:lnSpc>
            </a:pPr>
            <a:r>
              <a:rPr sz="1500" b="1" i="0" u="none">
                <a:solidFill>
                  <a:srgbClr val="0EA5E9"/>
                </a:solidFill>
                <a:latin typeface="JetBrains Mono"/>
              </a:rPr>
              <a:t>→</a:t>
            </a:r>
          </a:p>
        </p:txBody>
      </p:sp>
      <p:sp>
        <p:nvSpPr>
          <p:cNvPr id="12" name="TextBox 11"/>
          <p:cNvSpPr txBox="1"/>
          <p:nvPr/>
        </p:nvSpPr>
        <p:spPr>
          <a:xfrm>
            <a:off x="6134992" y="4862512"/>
            <a:ext cx="190500" cy="304800"/>
          </a:xfrm>
          <a:prstGeom prst="rect">
            <a:avLst/>
          </a:prstGeom>
          <a:noFill/>
        </p:spPr>
        <p:txBody>
          <a:bodyPr wrap="square" lIns="0" tIns="0" rIns="0" bIns="0" anchor="t">
            <a:spAutoFit/>
          </a:bodyPr>
          <a:lstStyle/>
          <a:p>
            <a:pPr algn="l">
              <a:lnSpc>
                <a:spcPts val="2400"/>
              </a:lnSpc>
            </a:pPr>
            <a:r>
              <a:rPr sz="1500" b="1" i="0" u="none">
                <a:solidFill>
                  <a:srgbClr val="0EA5E9"/>
                </a:solidFill>
                <a:latin typeface="JetBrains Mono"/>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71525" y="581025"/>
            <a:ext cx="11181397" cy="581025"/>
          </a:xfrm>
          <a:prstGeom prst="rect">
            <a:avLst/>
          </a:prstGeom>
          <a:noFill/>
        </p:spPr>
        <p:txBody>
          <a:bodyPr wrap="square" lIns="0" tIns="0" rIns="0" bIns="0" anchor="t">
            <a:spAutoFit/>
          </a:bodyPr>
          <a:lstStyle/>
          <a:p>
            <a:pPr algn="l"/>
            <a:r>
              <a:rPr sz="3600" b="0" i="0" u="none">
                <a:solidFill>
                  <a:srgbClr val="F8FAFC"/>
                </a:solidFill>
                <a:latin typeface="Space Grotesk SemiBold"/>
              </a:rPr>
              <a:t>Development </a:t>
            </a:r>
            <a:r>
              <a:rPr sz="3600" b="0" i="0" u="none">
                <a:solidFill>
                  <a:srgbClr val="8B5CF6"/>
                </a:solidFill>
                <a:latin typeface="Space Grotesk SemiBold"/>
              </a:rPr>
              <a:t>Workflow</a:t>
            </a:r>
          </a:p>
        </p:txBody>
      </p:sp>
      <p:pic>
        <p:nvPicPr>
          <p:cNvPr id="4" name="Picture 3" descr="image.png"/>
          <p:cNvPicPr>
            <a:picLocks noChangeAspect="1"/>
          </p:cNvPicPr>
          <p:nvPr/>
        </p:nvPicPr>
        <p:blipFill>
          <a:blip r:embed="rId3"/>
          <a:stretch>
            <a:fillRect/>
          </a:stretch>
        </p:blipFill>
        <p:spPr>
          <a:xfrm>
            <a:off x="3093243" y="3795712"/>
            <a:ext cx="200025" cy="228600"/>
          </a:xfrm>
          <a:prstGeom prst="rect">
            <a:avLst/>
          </a:prstGeom>
        </p:spPr>
      </p:pic>
      <p:pic>
        <p:nvPicPr>
          <p:cNvPr id="5" name="Picture 4" descr="image.png"/>
          <p:cNvPicPr>
            <a:picLocks noChangeAspect="1"/>
          </p:cNvPicPr>
          <p:nvPr/>
        </p:nvPicPr>
        <p:blipFill>
          <a:blip r:embed="rId4"/>
          <a:stretch>
            <a:fillRect/>
          </a:stretch>
        </p:blipFill>
        <p:spPr>
          <a:xfrm>
            <a:off x="5995987" y="3795712"/>
            <a:ext cx="200025" cy="228600"/>
          </a:xfrm>
          <a:prstGeom prst="rect">
            <a:avLst/>
          </a:prstGeom>
        </p:spPr>
      </p:pic>
      <p:pic>
        <p:nvPicPr>
          <p:cNvPr id="6" name="Picture 5" descr="image.png"/>
          <p:cNvPicPr>
            <a:picLocks noChangeAspect="1"/>
          </p:cNvPicPr>
          <p:nvPr/>
        </p:nvPicPr>
        <p:blipFill>
          <a:blip r:embed="rId4"/>
          <a:stretch>
            <a:fillRect/>
          </a:stretch>
        </p:blipFill>
        <p:spPr>
          <a:xfrm>
            <a:off x="8898731" y="3795712"/>
            <a:ext cx="200025" cy="228600"/>
          </a:xfrm>
          <a:prstGeom prst="rect">
            <a:avLst/>
          </a:prstGeom>
        </p:spPr>
      </p:pic>
      <p:pic>
        <p:nvPicPr>
          <p:cNvPr id="7" name="Picture 6" descr="image.png"/>
          <p:cNvPicPr>
            <a:picLocks noChangeAspect="1"/>
          </p:cNvPicPr>
          <p:nvPr/>
        </p:nvPicPr>
        <p:blipFill>
          <a:blip r:embed="rId5"/>
          <a:stretch>
            <a:fillRect/>
          </a:stretch>
        </p:blipFill>
        <p:spPr>
          <a:xfrm>
            <a:off x="962025" y="3232844"/>
            <a:ext cx="1559718" cy="381000"/>
          </a:xfrm>
          <a:prstGeom prst="rect">
            <a:avLst/>
          </a:prstGeom>
        </p:spPr>
      </p:pic>
      <p:sp>
        <p:nvSpPr>
          <p:cNvPr id="8" name="TextBox 7"/>
          <p:cNvSpPr txBox="1"/>
          <p:nvPr/>
        </p:nvSpPr>
        <p:spPr>
          <a:xfrm>
            <a:off x="923032" y="3756719"/>
            <a:ext cx="1637704" cy="247650"/>
          </a:xfrm>
          <a:prstGeom prst="rect">
            <a:avLst/>
          </a:prstGeom>
          <a:noFill/>
        </p:spPr>
        <p:txBody>
          <a:bodyPr wrap="square" lIns="0" tIns="0" rIns="0" bIns="0" anchor="t">
            <a:spAutoFit/>
          </a:bodyPr>
          <a:lstStyle/>
          <a:p>
            <a:pPr algn="ctr"/>
            <a:r>
              <a:rPr sz="1500" b="1" i="0" u="none">
                <a:solidFill>
                  <a:srgbClr val="0EA5E9"/>
                </a:solidFill>
                <a:latin typeface="Space Grotesk"/>
              </a:rPr>
              <a:t>IMPLEMENT</a:t>
            </a:r>
          </a:p>
        </p:txBody>
      </p:sp>
      <p:sp>
        <p:nvSpPr>
          <p:cNvPr id="9" name="TextBox 8"/>
          <p:cNvSpPr txBox="1"/>
          <p:nvPr/>
        </p:nvSpPr>
        <p:spPr>
          <a:xfrm>
            <a:off x="962025" y="4099619"/>
            <a:ext cx="1559718" cy="487560"/>
          </a:xfrm>
          <a:prstGeom prst="rect">
            <a:avLst/>
          </a:prstGeom>
          <a:noFill/>
        </p:spPr>
        <p:txBody>
          <a:bodyPr wrap="square" lIns="0" tIns="0" rIns="0" bIns="0" anchor="t">
            <a:spAutoFit/>
          </a:bodyPr>
          <a:lstStyle/>
          <a:p>
            <a:pPr algn="ctr">
              <a:lnSpc>
                <a:spcPts val="1920"/>
              </a:lnSpc>
            </a:pPr>
            <a:r>
              <a:rPr sz="1200" b="0" i="0" u="none">
                <a:solidFill>
                  <a:srgbClr val="94A3B8"/>
                </a:solidFill>
                <a:latin typeface="Inter"/>
              </a:rPr>
              <a:t>Core logic in local virtual environment</a:t>
            </a:r>
          </a:p>
        </p:txBody>
      </p:sp>
      <p:pic>
        <p:nvPicPr>
          <p:cNvPr id="10" name="Picture 9" descr="image.png"/>
          <p:cNvPicPr>
            <a:picLocks noChangeAspect="1"/>
          </p:cNvPicPr>
          <p:nvPr/>
        </p:nvPicPr>
        <p:blipFill>
          <a:blip r:embed="rId6"/>
          <a:stretch>
            <a:fillRect/>
          </a:stretch>
        </p:blipFill>
        <p:spPr>
          <a:xfrm>
            <a:off x="3864768" y="3232844"/>
            <a:ext cx="1559718" cy="381000"/>
          </a:xfrm>
          <a:prstGeom prst="rect">
            <a:avLst/>
          </a:prstGeom>
        </p:spPr>
      </p:pic>
      <p:sp>
        <p:nvSpPr>
          <p:cNvPr id="11" name="TextBox 10"/>
          <p:cNvSpPr txBox="1"/>
          <p:nvPr/>
        </p:nvSpPr>
        <p:spPr>
          <a:xfrm>
            <a:off x="3825775" y="3756719"/>
            <a:ext cx="1637704" cy="247650"/>
          </a:xfrm>
          <a:prstGeom prst="rect">
            <a:avLst/>
          </a:prstGeom>
          <a:noFill/>
        </p:spPr>
        <p:txBody>
          <a:bodyPr wrap="square" lIns="0" tIns="0" rIns="0" bIns="0" anchor="t">
            <a:spAutoFit/>
          </a:bodyPr>
          <a:lstStyle/>
          <a:p>
            <a:pPr algn="ctr"/>
            <a:r>
              <a:rPr sz="1500" b="1" i="0" u="none">
                <a:solidFill>
                  <a:srgbClr val="0EA5E9"/>
                </a:solidFill>
                <a:latin typeface="Space Grotesk"/>
              </a:rPr>
              <a:t>TEST</a:t>
            </a:r>
          </a:p>
        </p:txBody>
      </p:sp>
      <p:sp>
        <p:nvSpPr>
          <p:cNvPr id="12" name="TextBox 11"/>
          <p:cNvSpPr txBox="1"/>
          <p:nvPr/>
        </p:nvSpPr>
        <p:spPr>
          <a:xfrm>
            <a:off x="3864768" y="4099619"/>
            <a:ext cx="1559718" cy="487560"/>
          </a:xfrm>
          <a:prstGeom prst="rect">
            <a:avLst/>
          </a:prstGeom>
          <a:noFill/>
        </p:spPr>
        <p:txBody>
          <a:bodyPr wrap="square" lIns="0" tIns="0" rIns="0" bIns="0" anchor="t">
            <a:spAutoFit/>
          </a:bodyPr>
          <a:lstStyle/>
          <a:p>
            <a:pPr algn="ctr">
              <a:lnSpc>
                <a:spcPts val="1920"/>
              </a:lnSpc>
            </a:pPr>
            <a:r>
              <a:rPr sz="1200" b="0" i="0" u="none">
                <a:solidFill>
                  <a:srgbClr val="94A3B8"/>
                </a:solidFill>
                <a:latin typeface="Inter"/>
              </a:rPr>
              <a:t>Run Pytest suite locally</a:t>
            </a:r>
          </a:p>
        </p:txBody>
      </p:sp>
      <p:pic>
        <p:nvPicPr>
          <p:cNvPr id="13" name="Picture 12" descr="image.png"/>
          <p:cNvPicPr>
            <a:picLocks noChangeAspect="1"/>
          </p:cNvPicPr>
          <p:nvPr/>
        </p:nvPicPr>
        <p:blipFill>
          <a:blip r:embed="rId7"/>
          <a:stretch>
            <a:fillRect/>
          </a:stretch>
        </p:blipFill>
        <p:spPr>
          <a:xfrm>
            <a:off x="6767512" y="3232844"/>
            <a:ext cx="1559718" cy="381000"/>
          </a:xfrm>
          <a:prstGeom prst="rect">
            <a:avLst/>
          </a:prstGeom>
        </p:spPr>
      </p:pic>
      <p:sp>
        <p:nvSpPr>
          <p:cNvPr id="14" name="TextBox 13"/>
          <p:cNvSpPr txBox="1"/>
          <p:nvPr/>
        </p:nvSpPr>
        <p:spPr>
          <a:xfrm>
            <a:off x="6728519" y="3756719"/>
            <a:ext cx="1637704" cy="247650"/>
          </a:xfrm>
          <a:prstGeom prst="rect">
            <a:avLst/>
          </a:prstGeom>
          <a:noFill/>
        </p:spPr>
        <p:txBody>
          <a:bodyPr wrap="square" lIns="0" tIns="0" rIns="0" bIns="0" anchor="t">
            <a:spAutoFit/>
          </a:bodyPr>
          <a:lstStyle/>
          <a:p>
            <a:pPr algn="ctr"/>
            <a:r>
              <a:rPr sz="1500" b="1" i="0" u="none">
                <a:solidFill>
                  <a:srgbClr val="0EA5E9"/>
                </a:solidFill>
                <a:latin typeface="Space Grotesk"/>
              </a:rPr>
              <a:t>COMMIT</a:t>
            </a:r>
          </a:p>
        </p:txBody>
      </p:sp>
      <p:sp>
        <p:nvSpPr>
          <p:cNvPr id="15" name="TextBox 14"/>
          <p:cNvSpPr txBox="1"/>
          <p:nvPr/>
        </p:nvSpPr>
        <p:spPr>
          <a:xfrm>
            <a:off x="6767512" y="4099619"/>
            <a:ext cx="1559718" cy="487560"/>
          </a:xfrm>
          <a:prstGeom prst="rect">
            <a:avLst/>
          </a:prstGeom>
          <a:noFill/>
        </p:spPr>
        <p:txBody>
          <a:bodyPr wrap="square" lIns="0" tIns="0" rIns="0" bIns="0" anchor="t">
            <a:spAutoFit/>
          </a:bodyPr>
          <a:lstStyle/>
          <a:p>
            <a:pPr algn="ctr">
              <a:lnSpc>
                <a:spcPts val="1920"/>
              </a:lnSpc>
            </a:pPr>
            <a:r>
              <a:rPr sz="1200" b="0" i="0" u="none">
                <a:solidFill>
                  <a:srgbClr val="94A3B8"/>
                </a:solidFill>
                <a:latin typeface="Inter"/>
              </a:rPr>
              <a:t>Atomic commits via Git CLI</a:t>
            </a:r>
          </a:p>
        </p:txBody>
      </p:sp>
      <p:pic>
        <p:nvPicPr>
          <p:cNvPr id="16" name="Picture 15" descr="image.png"/>
          <p:cNvPicPr>
            <a:picLocks noChangeAspect="1"/>
          </p:cNvPicPr>
          <p:nvPr/>
        </p:nvPicPr>
        <p:blipFill>
          <a:blip r:embed="rId8"/>
          <a:stretch>
            <a:fillRect/>
          </a:stretch>
        </p:blipFill>
        <p:spPr>
          <a:xfrm>
            <a:off x="9670256" y="3232844"/>
            <a:ext cx="1559718" cy="381000"/>
          </a:xfrm>
          <a:prstGeom prst="rect">
            <a:avLst/>
          </a:prstGeom>
        </p:spPr>
      </p:pic>
      <p:sp>
        <p:nvSpPr>
          <p:cNvPr id="17" name="TextBox 16"/>
          <p:cNvSpPr txBox="1"/>
          <p:nvPr/>
        </p:nvSpPr>
        <p:spPr>
          <a:xfrm>
            <a:off x="9631263" y="3756719"/>
            <a:ext cx="1637704" cy="247650"/>
          </a:xfrm>
          <a:prstGeom prst="rect">
            <a:avLst/>
          </a:prstGeom>
          <a:noFill/>
        </p:spPr>
        <p:txBody>
          <a:bodyPr wrap="square" lIns="0" tIns="0" rIns="0" bIns="0" anchor="t">
            <a:spAutoFit/>
          </a:bodyPr>
          <a:lstStyle/>
          <a:p>
            <a:pPr algn="ctr"/>
            <a:r>
              <a:rPr sz="1500" b="1" i="0" u="none">
                <a:solidFill>
                  <a:srgbClr val="0EA5E9"/>
                </a:solidFill>
                <a:latin typeface="Space Grotesk"/>
              </a:rPr>
              <a:t>DEPLOY</a:t>
            </a:r>
          </a:p>
        </p:txBody>
      </p:sp>
      <p:sp>
        <p:nvSpPr>
          <p:cNvPr id="18" name="TextBox 17"/>
          <p:cNvSpPr txBox="1"/>
          <p:nvPr/>
        </p:nvSpPr>
        <p:spPr>
          <a:xfrm>
            <a:off x="9670256" y="4099619"/>
            <a:ext cx="1559718" cy="487560"/>
          </a:xfrm>
          <a:prstGeom prst="rect">
            <a:avLst/>
          </a:prstGeom>
          <a:noFill/>
        </p:spPr>
        <p:txBody>
          <a:bodyPr wrap="square" lIns="0" tIns="0" rIns="0" bIns="0" anchor="t">
            <a:spAutoFit/>
          </a:bodyPr>
          <a:lstStyle/>
          <a:p>
            <a:pPr algn="ctr">
              <a:lnSpc>
                <a:spcPts val="1920"/>
              </a:lnSpc>
            </a:pPr>
            <a:r>
              <a:rPr sz="1200" b="0" i="0" u="none">
                <a:solidFill>
                  <a:srgbClr val="94A3B8"/>
                </a:solidFill>
                <a:latin typeface="Inter"/>
              </a:rPr>
              <a:t>Push to main branch on GitHub</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771525" y="2233612"/>
            <a:ext cx="5133975" cy="3352800"/>
          </a:xfrm>
          <a:prstGeom prst="rect">
            <a:avLst/>
          </a:prstGeom>
        </p:spPr>
      </p:pic>
      <p:pic>
        <p:nvPicPr>
          <p:cNvPr id="4" name="Picture 3" descr="image.png"/>
          <p:cNvPicPr>
            <a:picLocks noChangeAspect="1"/>
          </p:cNvPicPr>
          <p:nvPr/>
        </p:nvPicPr>
        <p:blipFill>
          <a:blip r:embed="rId4"/>
          <a:stretch>
            <a:fillRect/>
          </a:stretch>
        </p:blipFill>
        <p:spPr>
          <a:xfrm>
            <a:off x="6286500" y="2233612"/>
            <a:ext cx="5133975" cy="3352800"/>
          </a:xfrm>
          <a:prstGeom prst="rect">
            <a:avLst/>
          </a:prstGeom>
        </p:spPr>
      </p:pic>
      <p:sp>
        <p:nvSpPr>
          <p:cNvPr id="5" name="TextBox 4"/>
          <p:cNvSpPr txBox="1"/>
          <p:nvPr/>
        </p:nvSpPr>
        <p:spPr>
          <a:xfrm>
            <a:off x="771525" y="581025"/>
            <a:ext cx="11181397" cy="581025"/>
          </a:xfrm>
          <a:prstGeom prst="rect">
            <a:avLst/>
          </a:prstGeom>
          <a:noFill/>
        </p:spPr>
        <p:txBody>
          <a:bodyPr wrap="square" lIns="0" tIns="0" rIns="0" bIns="0" anchor="t">
            <a:spAutoFit/>
          </a:bodyPr>
          <a:lstStyle/>
          <a:p>
            <a:pPr algn="l"/>
            <a:r>
              <a:rPr sz="3600" b="0" i="0" u="none">
                <a:solidFill>
                  <a:srgbClr val="F8FAFC"/>
                </a:solidFill>
                <a:latin typeface="Space Grotesk SemiBold"/>
              </a:rPr>
              <a:t>Technical </a:t>
            </a:r>
            <a:r>
              <a:rPr sz="3600" b="0" i="0" u="none">
                <a:solidFill>
                  <a:srgbClr val="0EA5E9"/>
                </a:solidFill>
                <a:latin typeface="Space Grotesk SemiBold"/>
              </a:rPr>
              <a:t>Challenges</a:t>
            </a:r>
          </a:p>
        </p:txBody>
      </p:sp>
      <p:sp>
        <p:nvSpPr>
          <p:cNvPr id="6" name="TextBox 5"/>
          <p:cNvSpPr txBox="1"/>
          <p:nvPr/>
        </p:nvSpPr>
        <p:spPr>
          <a:xfrm>
            <a:off x="1162050" y="2624137"/>
            <a:ext cx="4570571" cy="247650"/>
          </a:xfrm>
          <a:prstGeom prst="rect">
            <a:avLst/>
          </a:prstGeom>
          <a:noFill/>
        </p:spPr>
        <p:txBody>
          <a:bodyPr wrap="square" lIns="0" tIns="0" rIns="0" bIns="0" anchor="t">
            <a:spAutoFit/>
          </a:bodyPr>
          <a:lstStyle/>
          <a:p>
            <a:pPr algn="l"/>
            <a:r>
              <a:rPr sz="1500" b="1" i="0" u="none">
                <a:solidFill>
                  <a:srgbClr val="EF4444"/>
                </a:solidFill>
                <a:latin typeface="Space Grotesk"/>
              </a:rPr>
              <a:t>RED COLOR WRAPPING</a:t>
            </a:r>
          </a:p>
        </p:txBody>
      </p:sp>
      <p:sp>
        <p:nvSpPr>
          <p:cNvPr id="7" name="TextBox 6"/>
          <p:cNvSpPr txBox="1"/>
          <p:nvPr/>
        </p:nvSpPr>
        <p:spPr>
          <a:xfrm>
            <a:off x="1162050" y="2967037"/>
            <a:ext cx="4352925" cy="914400"/>
          </a:xfrm>
          <a:prstGeom prst="rect">
            <a:avLst/>
          </a:prstGeom>
          <a:noFill/>
        </p:spPr>
        <p:txBody>
          <a:bodyPr wrap="square" lIns="0" tIns="0" rIns="0" bIns="0" anchor="t">
            <a:spAutoFit/>
          </a:bodyPr>
          <a:lstStyle/>
          <a:p>
            <a:pPr algn="l">
              <a:lnSpc>
                <a:spcPts val="2400"/>
              </a:lnSpc>
            </a:pPr>
            <a:r>
              <a:rPr sz="1500" b="1" i="0" u="none">
                <a:solidFill>
                  <a:srgbClr val="94A3B8"/>
                </a:solidFill>
                <a:latin typeface="Inter"/>
              </a:rPr>
              <a:t>Challenge:</a:t>
            </a:r>
            <a:r>
              <a:rPr sz="1500" b="0" i="0" u="none">
                <a:solidFill>
                  <a:srgbClr val="94A3B8"/>
                </a:solidFill>
                <a:latin typeface="Inter"/>
              </a:rPr>
              <a:t> OpenCV limits Hue to 180. Red falls at both 0-10 and 170-180, breaking standard `inRange` logic.</a:t>
            </a:r>
          </a:p>
        </p:txBody>
      </p:sp>
      <p:sp>
        <p:nvSpPr>
          <p:cNvPr id="8" name="TextBox 7"/>
          <p:cNvSpPr txBox="1"/>
          <p:nvPr/>
        </p:nvSpPr>
        <p:spPr>
          <a:xfrm>
            <a:off x="1162050" y="3976687"/>
            <a:ext cx="4352925" cy="1219200"/>
          </a:xfrm>
          <a:prstGeom prst="rect">
            <a:avLst/>
          </a:prstGeom>
          <a:noFill/>
        </p:spPr>
        <p:txBody>
          <a:bodyPr wrap="square" lIns="0" tIns="0" rIns="0" bIns="0" anchor="t">
            <a:spAutoFit/>
          </a:bodyPr>
          <a:lstStyle/>
          <a:p>
            <a:pPr algn="l">
              <a:lnSpc>
                <a:spcPts val="2400"/>
              </a:lnSpc>
            </a:pPr>
            <a:r>
              <a:rPr sz="1500" b="1" i="0" u="none">
                <a:solidFill>
                  <a:srgbClr val="94A3B8"/>
                </a:solidFill>
                <a:latin typeface="Inter"/>
              </a:rPr>
              <a:t>Solution:</a:t>
            </a:r>
            <a:r>
              <a:rPr sz="1500" b="0" i="0" u="none">
                <a:solidFill>
                  <a:srgbClr val="94A3B8"/>
                </a:solidFill>
                <a:latin typeface="Inter"/>
              </a:rPr>
              <a:t> Programmed a specific edge-case handler for red that creates two masks and combines them using matrix addition (`mask1 + mask2`).</a:t>
            </a:r>
          </a:p>
        </p:txBody>
      </p:sp>
      <p:sp>
        <p:nvSpPr>
          <p:cNvPr id="9" name="TextBox 8"/>
          <p:cNvSpPr txBox="1"/>
          <p:nvPr/>
        </p:nvSpPr>
        <p:spPr>
          <a:xfrm>
            <a:off x="6677025" y="2624137"/>
            <a:ext cx="4570571" cy="247650"/>
          </a:xfrm>
          <a:prstGeom prst="rect">
            <a:avLst/>
          </a:prstGeom>
          <a:noFill/>
        </p:spPr>
        <p:txBody>
          <a:bodyPr wrap="square" lIns="0" tIns="0" rIns="0" bIns="0" anchor="t">
            <a:spAutoFit/>
          </a:bodyPr>
          <a:lstStyle/>
          <a:p>
            <a:pPr algn="l"/>
            <a:r>
              <a:rPr sz="1500" b="1" i="0" u="none">
                <a:solidFill>
                  <a:srgbClr val="EAB308"/>
                </a:solidFill>
                <a:latin typeface="Space Grotesk"/>
              </a:rPr>
              <a:t>MASK NOISE VS. PRECISION</a:t>
            </a:r>
          </a:p>
        </p:txBody>
      </p:sp>
      <p:sp>
        <p:nvSpPr>
          <p:cNvPr id="10" name="TextBox 9"/>
          <p:cNvSpPr txBox="1"/>
          <p:nvPr/>
        </p:nvSpPr>
        <p:spPr>
          <a:xfrm>
            <a:off x="6677025" y="2967037"/>
            <a:ext cx="4352925" cy="914400"/>
          </a:xfrm>
          <a:prstGeom prst="rect">
            <a:avLst/>
          </a:prstGeom>
          <a:noFill/>
        </p:spPr>
        <p:txBody>
          <a:bodyPr wrap="square" lIns="0" tIns="0" rIns="0" bIns="0" anchor="t">
            <a:spAutoFit/>
          </a:bodyPr>
          <a:lstStyle/>
          <a:p>
            <a:pPr algn="l">
              <a:lnSpc>
                <a:spcPts val="2400"/>
              </a:lnSpc>
            </a:pPr>
            <a:r>
              <a:rPr sz="1500" b="1" i="0" u="none">
                <a:solidFill>
                  <a:srgbClr val="94A3B8"/>
                </a:solidFill>
                <a:latin typeface="Inter"/>
              </a:rPr>
              <a:t>Challenge:</a:t>
            </a:r>
            <a:r>
              <a:rPr sz="1500" b="0" i="0" u="none">
                <a:solidFill>
                  <a:srgbClr val="94A3B8"/>
                </a:solidFill>
                <a:latin typeface="Inter"/>
              </a:rPr>
              <a:t> Strict HSV ranges left holes in the cloak, but loose ranges caused the background to disappear randomly.</a:t>
            </a:r>
          </a:p>
        </p:txBody>
      </p:sp>
      <p:sp>
        <p:nvSpPr>
          <p:cNvPr id="11" name="TextBox 10"/>
          <p:cNvSpPr txBox="1"/>
          <p:nvPr/>
        </p:nvSpPr>
        <p:spPr>
          <a:xfrm>
            <a:off x="6677025" y="3976687"/>
            <a:ext cx="4352925" cy="914400"/>
          </a:xfrm>
          <a:prstGeom prst="rect">
            <a:avLst/>
          </a:prstGeom>
          <a:noFill/>
        </p:spPr>
        <p:txBody>
          <a:bodyPr wrap="square" lIns="0" tIns="0" rIns="0" bIns="0" anchor="t">
            <a:spAutoFit/>
          </a:bodyPr>
          <a:lstStyle/>
          <a:p>
            <a:pPr algn="l">
              <a:lnSpc>
                <a:spcPts val="2400"/>
              </a:lnSpc>
            </a:pPr>
            <a:r>
              <a:rPr sz="1500" b="1" i="0" u="none">
                <a:solidFill>
                  <a:srgbClr val="94A3B8"/>
                </a:solidFill>
                <a:latin typeface="Inter"/>
              </a:rPr>
              <a:t>Solution:</a:t>
            </a:r>
            <a:r>
              <a:rPr sz="1500" b="0" i="0" u="none">
                <a:solidFill>
                  <a:srgbClr val="94A3B8"/>
                </a:solidFill>
                <a:latin typeface="Inter"/>
              </a:rPr>
              <a:t> Tuned morphological operations, relying on `cv2.dilate` to bridge small gaps rather than widening color ranges dangerously.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81750" y="2380357"/>
            <a:ext cx="5038725" cy="3059310"/>
          </a:xfrm>
          <a:prstGeom prst="rect">
            <a:avLst/>
          </a:prstGeom>
        </p:spPr>
      </p:pic>
      <p:sp>
        <p:nvSpPr>
          <p:cNvPr id="4" name="TextBox 3"/>
          <p:cNvSpPr txBox="1"/>
          <p:nvPr/>
        </p:nvSpPr>
        <p:spPr>
          <a:xfrm>
            <a:off x="771525" y="581025"/>
            <a:ext cx="11181397" cy="581025"/>
          </a:xfrm>
          <a:prstGeom prst="rect">
            <a:avLst/>
          </a:prstGeom>
          <a:noFill/>
        </p:spPr>
        <p:txBody>
          <a:bodyPr wrap="square" lIns="0" tIns="0" rIns="0" bIns="0" anchor="t">
            <a:spAutoFit/>
          </a:bodyPr>
          <a:lstStyle/>
          <a:p>
            <a:pPr algn="l"/>
            <a:r>
              <a:rPr sz="3600" b="0" i="0" u="none">
                <a:solidFill>
                  <a:srgbClr val="F8FAFC"/>
                </a:solidFill>
                <a:latin typeface="Space Grotesk SemiBold"/>
              </a:rPr>
              <a:t>System </a:t>
            </a:r>
            <a:r>
              <a:rPr sz="3600" b="0" i="0" u="none">
                <a:solidFill>
                  <a:srgbClr val="8B5CF6"/>
                </a:solidFill>
                <a:latin typeface="Space Grotesk SemiBold"/>
              </a:rPr>
              <a:t>Limitations</a:t>
            </a:r>
          </a:p>
        </p:txBody>
      </p:sp>
      <p:sp>
        <p:nvSpPr>
          <p:cNvPr id="5" name="TextBox 4"/>
          <p:cNvSpPr txBox="1"/>
          <p:nvPr/>
        </p:nvSpPr>
        <p:spPr>
          <a:xfrm>
            <a:off x="771525" y="1700212"/>
            <a:ext cx="5038725" cy="914400"/>
          </a:xfrm>
          <a:prstGeom prst="rect">
            <a:avLst/>
          </a:prstGeom>
          <a:noFill/>
        </p:spPr>
        <p:txBody>
          <a:bodyPr wrap="square" lIns="0" tIns="0" rIns="0" bIns="0" anchor="t">
            <a:spAutoFit/>
          </a:bodyPr>
          <a:lstStyle/>
          <a:p>
            <a:pPr algn="l">
              <a:lnSpc>
                <a:spcPts val="2400"/>
              </a:lnSpc>
            </a:pPr>
            <a:r>
              <a:rPr sz="1500" b="0" i="0" u="none">
                <a:solidFill>
                  <a:srgbClr val="94A3B8"/>
                </a:solidFill>
                <a:latin typeface="Inter"/>
              </a:rPr>
              <a:t>As a purely classical Computer Vision application without semantic AI understanding, the system has strict physical constraints:</a:t>
            </a:r>
          </a:p>
        </p:txBody>
      </p:sp>
      <p:sp>
        <p:nvSpPr>
          <p:cNvPr id="6" name="TextBox 5"/>
          <p:cNvSpPr txBox="1"/>
          <p:nvPr/>
        </p:nvSpPr>
        <p:spPr>
          <a:xfrm>
            <a:off x="6772275" y="3466207"/>
            <a:ext cx="4470558" cy="342900"/>
          </a:xfrm>
          <a:prstGeom prst="rect">
            <a:avLst/>
          </a:prstGeom>
          <a:noFill/>
        </p:spPr>
        <p:txBody>
          <a:bodyPr wrap="square" lIns="0" tIns="0" rIns="0" bIns="0" anchor="t">
            <a:spAutoFit/>
          </a:bodyPr>
          <a:lstStyle/>
          <a:p>
            <a:pPr algn="l"/>
            <a:r>
              <a:rPr sz="2100" b="0" i="0" u="none">
                <a:solidFill>
                  <a:srgbClr val="FCA5A5"/>
                </a:solidFill>
                <a:latin typeface="Space Grotesk SemiBold"/>
              </a:rPr>
              <a:t>The Semantic Gap</a:t>
            </a:r>
          </a:p>
        </p:txBody>
      </p:sp>
      <p:sp>
        <p:nvSpPr>
          <p:cNvPr id="7" name="TextBox 6"/>
          <p:cNvSpPr txBox="1"/>
          <p:nvPr/>
        </p:nvSpPr>
        <p:spPr>
          <a:xfrm>
            <a:off x="6772275" y="3951982"/>
            <a:ext cx="4257675" cy="1097160"/>
          </a:xfrm>
          <a:prstGeom prst="rect">
            <a:avLst/>
          </a:prstGeom>
          <a:noFill/>
        </p:spPr>
        <p:txBody>
          <a:bodyPr wrap="square" lIns="0" tIns="0" rIns="0" bIns="0" anchor="t">
            <a:spAutoFit/>
          </a:bodyPr>
          <a:lstStyle/>
          <a:p>
            <a:pPr algn="l">
              <a:lnSpc>
                <a:spcPts val="2160"/>
              </a:lnSpc>
            </a:pPr>
            <a:r>
              <a:rPr sz="1350" b="0" i="0" u="none">
                <a:solidFill>
                  <a:srgbClr val="FECACA"/>
                </a:solidFill>
                <a:latin typeface="Inter"/>
              </a:rPr>
              <a:t>The system tracks </a:t>
            </a:r>
            <a:r>
              <a:rPr sz="1350" b="0" i="1" u="none">
                <a:solidFill>
                  <a:srgbClr val="FECACA"/>
                </a:solidFill>
                <a:latin typeface="Inter"/>
              </a:rPr>
              <a:t>pixels containing specific mathematical values</a:t>
            </a:r>
            <a:r>
              <a:rPr sz="1350" b="0" i="0" u="none">
                <a:solidFill>
                  <a:srgbClr val="FECACA"/>
                </a:solidFill>
                <a:latin typeface="Inter"/>
              </a:rPr>
              <a:t>, not actual "objects" or "cloth". It cannot differentiate between a blue cloak and a blue chair.</a:t>
            </a:r>
          </a:p>
        </p:txBody>
      </p:sp>
      <p:sp>
        <p:nvSpPr>
          <p:cNvPr id="8" name="TextBox 7"/>
          <p:cNvSpPr txBox="1"/>
          <p:nvPr/>
        </p:nvSpPr>
        <p:spPr>
          <a:xfrm>
            <a:off x="1057275" y="2805112"/>
            <a:ext cx="4752975" cy="914400"/>
          </a:xfrm>
          <a:prstGeom prst="rect">
            <a:avLst/>
          </a:prstGeom>
          <a:noFill/>
        </p:spPr>
        <p:txBody>
          <a:bodyPr wrap="square" lIns="0" tIns="0" rIns="0" bIns="0" anchor="t">
            <a:spAutoFit/>
          </a:bodyPr>
          <a:lstStyle/>
          <a:p>
            <a:pPr algn="l">
              <a:lnSpc>
                <a:spcPts val="2400"/>
              </a:lnSpc>
            </a:pPr>
            <a:r>
              <a:rPr sz="1500" b="1" i="0" u="none">
                <a:solidFill>
                  <a:srgbClr val="94A3B8"/>
                </a:solidFill>
                <a:latin typeface="Inter"/>
              </a:rPr>
              <a:t>Lighting Sensitivity:</a:t>
            </a:r>
            <a:r>
              <a:rPr sz="1500" b="0" i="0" u="none">
                <a:solidFill>
                  <a:srgbClr val="94A3B8"/>
                </a:solidFill>
                <a:latin typeface="Inter"/>
              </a:rPr>
              <a:t> Heavy reliance on stable illumination. Drastic lighting changes alter perceived HSV values.</a:t>
            </a:r>
          </a:p>
        </p:txBody>
      </p:sp>
      <p:sp>
        <p:nvSpPr>
          <p:cNvPr id="9" name="TextBox 8"/>
          <p:cNvSpPr txBox="1"/>
          <p:nvPr/>
        </p:nvSpPr>
        <p:spPr>
          <a:xfrm>
            <a:off x="1057275" y="3910012"/>
            <a:ext cx="4752975" cy="914400"/>
          </a:xfrm>
          <a:prstGeom prst="rect">
            <a:avLst/>
          </a:prstGeom>
          <a:noFill/>
        </p:spPr>
        <p:txBody>
          <a:bodyPr wrap="square" lIns="0" tIns="0" rIns="0" bIns="0" anchor="t">
            <a:spAutoFit/>
          </a:bodyPr>
          <a:lstStyle/>
          <a:p>
            <a:pPr algn="l">
              <a:lnSpc>
                <a:spcPts val="2400"/>
              </a:lnSpc>
            </a:pPr>
            <a:r>
              <a:rPr sz="1500" b="1" i="0" u="none">
                <a:solidFill>
                  <a:srgbClr val="94A3B8"/>
                </a:solidFill>
                <a:latin typeface="Inter"/>
              </a:rPr>
              <a:t>Background Conflicts:</a:t>
            </a:r>
            <a:r>
              <a:rPr sz="1500" b="0" i="0" u="none">
                <a:solidFill>
                  <a:srgbClr val="94A3B8"/>
                </a:solidFill>
                <a:latin typeface="Inter"/>
              </a:rPr>
              <a:t> If the user wears blue jeans while the system is set to track blue, their legs will disappear.</a:t>
            </a:r>
          </a:p>
        </p:txBody>
      </p:sp>
      <p:sp>
        <p:nvSpPr>
          <p:cNvPr id="10" name="TextBox 9"/>
          <p:cNvSpPr txBox="1"/>
          <p:nvPr/>
        </p:nvSpPr>
        <p:spPr>
          <a:xfrm>
            <a:off x="1057275" y="5014912"/>
            <a:ext cx="4752975" cy="914400"/>
          </a:xfrm>
          <a:prstGeom prst="rect">
            <a:avLst/>
          </a:prstGeom>
          <a:noFill/>
        </p:spPr>
        <p:txBody>
          <a:bodyPr wrap="square" lIns="0" tIns="0" rIns="0" bIns="0" anchor="t">
            <a:spAutoFit/>
          </a:bodyPr>
          <a:lstStyle/>
          <a:p>
            <a:pPr algn="l">
              <a:lnSpc>
                <a:spcPts val="2400"/>
              </a:lnSpc>
            </a:pPr>
            <a:r>
              <a:rPr sz="1500" b="1" i="0" u="none">
                <a:solidFill>
                  <a:srgbClr val="94A3B8"/>
                </a:solidFill>
                <a:latin typeface="Inter"/>
              </a:rPr>
              <a:t>Camera Auto-Exposure:</a:t>
            </a:r>
            <a:r>
              <a:rPr sz="1500" b="0" i="0" u="none">
                <a:solidFill>
                  <a:srgbClr val="94A3B8"/>
                </a:solidFill>
                <a:latin typeface="Inter"/>
              </a:rPr>
              <a:t> Webcams dynamically adjusting brightness can ruin the captured static background reference.</a:t>
            </a:r>
          </a:p>
        </p:txBody>
      </p:sp>
      <p:pic>
        <p:nvPicPr>
          <p:cNvPr id="11" name="Picture 10" descr="image.png"/>
          <p:cNvPicPr>
            <a:picLocks noChangeAspect="1"/>
          </p:cNvPicPr>
          <p:nvPr/>
        </p:nvPicPr>
        <p:blipFill>
          <a:blip r:embed="rId4"/>
          <a:stretch>
            <a:fillRect/>
          </a:stretch>
        </p:blipFill>
        <p:spPr>
          <a:xfrm>
            <a:off x="6772275" y="2808982"/>
            <a:ext cx="381000" cy="381000"/>
          </a:xfrm>
          <a:prstGeom prst="rect">
            <a:avLst/>
          </a:prstGeom>
        </p:spPr>
      </p:pic>
      <p:sp>
        <p:nvSpPr>
          <p:cNvPr id="12" name="TextBox 11"/>
          <p:cNvSpPr txBox="1"/>
          <p:nvPr/>
        </p:nvSpPr>
        <p:spPr>
          <a:xfrm>
            <a:off x="771525" y="2805112"/>
            <a:ext cx="190500" cy="304800"/>
          </a:xfrm>
          <a:prstGeom prst="rect">
            <a:avLst/>
          </a:prstGeom>
          <a:noFill/>
        </p:spPr>
        <p:txBody>
          <a:bodyPr wrap="square" lIns="0" tIns="0" rIns="0" bIns="0" anchor="t">
            <a:spAutoFit/>
          </a:bodyPr>
          <a:lstStyle/>
          <a:p>
            <a:pPr algn="l">
              <a:lnSpc>
                <a:spcPts val="2400"/>
              </a:lnSpc>
            </a:pPr>
            <a:r>
              <a:rPr sz="1500" b="1" i="0" u="none">
                <a:solidFill>
                  <a:srgbClr val="0EA5E9"/>
                </a:solidFill>
                <a:latin typeface="JetBrains Mono"/>
              </a:rPr>
              <a:t>→</a:t>
            </a:r>
          </a:p>
        </p:txBody>
      </p:sp>
      <p:sp>
        <p:nvSpPr>
          <p:cNvPr id="13" name="TextBox 12"/>
          <p:cNvSpPr txBox="1"/>
          <p:nvPr/>
        </p:nvSpPr>
        <p:spPr>
          <a:xfrm>
            <a:off x="771525" y="3910012"/>
            <a:ext cx="190500" cy="304800"/>
          </a:xfrm>
          <a:prstGeom prst="rect">
            <a:avLst/>
          </a:prstGeom>
          <a:noFill/>
        </p:spPr>
        <p:txBody>
          <a:bodyPr wrap="square" lIns="0" tIns="0" rIns="0" bIns="0" anchor="t">
            <a:spAutoFit/>
          </a:bodyPr>
          <a:lstStyle/>
          <a:p>
            <a:pPr algn="l">
              <a:lnSpc>
                <a:spcPts val="2400"/>
              </a:lnSpc>
            </a:pPr>
            <a:r>
              <a:rPr sz="1500" b="1" i="0" u="none">
                <a:solidFill>
                  <a:srgbClr val="0EA5E9"/>
                </a:solidFill>
                <a:latin typeface="JetBrains Mono"/>
              </a:rPr>
              <a:t>→</a:t>
            </a:r>
          </a:p>
        </p:txBody>
      </p:sp>
      <p:sp>
        <p:nvSpPr>
          <p:cNvPr id="14" name="TextBox 13"/>
          <p:cNvSpPr txBox="1"/>
          <p:nvPr/>
        </p:nvSpPr>
        <p:spPr>
          <a:xfrm>
            <a:off x="771525" y="5014912"/>
            <a:ext cx="190500" cy="304800"/>
          </a:xfrm>
          <a:prstGeom prst="rect">
            <a:avLst/>
          </a:prstGeom>
          <a:noFill/>
        </p:spPr>
        <p:txBody>
          <a:bodyPr wrap="square" lIns="0" tIns="0" rIns="0" bIns="0" anchor="t">
            <a:spAutoFit/>
          </a:bodyPr>
          <a:lstStyle/>
          <a:p>
            <a:pPr algn="l">
              <a:lnSpc>
                <a:spcPts val="2400"/>
              </a:lnSpc>
            </a:pPr>
            <a:r>
              <a:rPr sz="1500" b="1" i="0" u="none">
                <a:solidFill>
                  <a:srgbClr val="0EA5E9"/>
                </a:solidFill>
                <a:latin typeface="JetBrains Mono"/>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771525" y="1995487"/>
            <a:ext cx="3295650" cy="3829050"/>
          </a:xfrm>
          <a:prstGeom prst="rect">
            <a:avLst/>
          </a:prstGeom>
        </p:spPr>
      </p:pic>
      <p:pic>
        <p:nvPicPr>
          <p:cNvPr id="4" name="Picture 3" descr="image.png"/>
          <p:cNvPicPr>
            <a:picLocks noChangeAspect="1"/>
          </p:cNvPicPr>
          <p:nvPr/>
        </p:nvPicPr>
        <p:blipFill>
          <a:blip r:embed="rId4"/>
          <a:stretch>
            <a:fillRect/>
          </a:stretch>
        </p:blipFill>
        <p:spPr>
          <a:xfrm>
            <a:off x="4448175" y="1995487"/>
            <a:ext cx="3295650" cy="3829050"/>
          </a:xfrm>
          <a:prstGeom prst="rect">
            <a:avLst/>
          </a:prstGeom>
        </p:spPr>
      </p:pic>
      <p:pic>
        <p:nvPicPr>
          <p:cNvPr id="5" name="Picture 4" descr="image.png"/>
          <p:cNvPicPr>
            <a:picLocks noChangeAspect="1"/>
          </p:cNvPicPr>
          <p:nvPr/>
        </p:nvPicPr>
        <p:blipFill>
          <a:blip r:embed="rId5"/>
          <a:stretch>
            <a:fillRect/>
          </a:stretch>
        </p:blipFill>
        <p:spPr>
          <a:xfrm>
            <a:off x="8124825" y="1995487"/>
            <a:ext cx="3295650" cy="3829050"/>
          </a:xfrm>
          <a:prstGeom prst="rect">
            <a:avLst/>
          </a:prstGeom>
        </p:spPr>
      </p:pic>
      <p:sp>
        <p:nvSpPr>
          <p:cNvPr id="6" name="TextBox 5"/>
          <p:cNvSpPr txBox="1"/>
          <p:nvPr/>
        </p:nvSpPr>
        <p:spPr>
          <a:xfrm>
            <a:off x="771525" y="581025"/>
            <a:ext cx="11181397" cy="581025"/>
          </a:xfrm>
          <a:prstGeom prst="rect">
            <a:avLst/>
          </a:prstGeom>
          <a:noFill/>
        </p:spPr>
        <p:txBody>
          <a:bodyPr wrap="square" lIns="0" tIns="0" rIns="0" bIns="0" anchor="t">
            <a:spAutoFit/>
          </a:bodyPr>
          <a:lstStyle/>
          <a:p>
            <a:pPr algn="l"/>
            <a:r>
              <a:rPr sz="3600" b="0" i="0" u="none">
                <a:solidFill>
                  <a:srgbClr val="F8FAFC"/>
                </a:solidFill>
                <a:latin typeface="Space Grotesk SemiBold"/>
              </a:rPr>
              <a:t>Future </a:t>
            </a:r>
            <a:r>
              <a:rPr sz="3600" b="0" i="0" u="none">
                <a:solidFill>
                  <a:srgbClr val="0EA5E9"/>
                </a:solidFill>
                <a:latin typeface="Space Grotesk SemiBold"/>
              </a:rPr>
              <a:t>Improvements</a:t>
            </a:r>
          </a:p>
        </p:txBody>
      </p:sp>
      <p:sp>
        <p:nvSpPr>
          <p:cNvPr id="7" name="TextBox 6"/>
          <p:cNvSpPr txBox="1"/>
          <p:nvPr/>
        </p:nvSpPr>
        <p:spPr>
          <a:xfrm>
            <a:off x="1162050" y="3081337"/>
            <a:ext cx="2640330" cy="342900"/>
          </a:xfrm>
          <a:prstGeom prst="rect">
            <a:avLst/>
          </a:prstGeom>
          <a:noFill/>
        </p:spPr>
        <p:txBody>
          <a:bodyPr wrap="square" lIns="0" tIns="0" rIns="0" bIns="0" anchor="t">
            <a:spAutoFit/>
          </a:bodyPr>
          <a:lstStyle/>
          <a:p>
            <a:pPr algn="l"/>
            <a:r>
              <a:rPr sz="2100" b="0" i="0" u="none">
                <a:solidFill>
                  <a:srgbClr val="F1F5F9"/>
                </a:solidFill>
                <a:latin typeface="Space Grotesk SemiBold"/>
              </a:rPr>
              <a:t>Auto-Calibration</a:t>
            </a:r>
          </a:p>
        </p:txBody>
      </p:sp>
      <p:sp>
        <p:nvSpPr>
          <p:cNvPr id="8" name="TextBox 7"/>
          <p:cNvSpPr txBox="1"/>
          <p:nvPr/>
        </p:nvSpPr>
        <p:spPr>
          <a:xfrm>
            <a:off x="1162050" y="3567112"/>
            <a:ext cx="2514600" cy="1828800"/>
          </a:xfrm>
          <a:prstGeom prst="rect">
            <a:avLst/>
          </a:prstGeom>
          <a:noFill/>
        </p:spPr>
        <p:txBody>
          <a:bodyPr wrap="square" lIns="0" tIns="0" rIns="0" bIns="0" anchor="t">
            <a:spAutoFit/>
          </a:bodyPr>
          <a:lstStyle/>
          <a:p>
            <a:pPr algn="l">
              <a:lnSpc>
                <a:spcPts val="2400"/>
              </a:lnSpc>
            </a:pPr>
            <a:r>
              <a:rPr sz="1500" b="0" i="0" u="none">
                <a:solidFill>
                  <a:srgbClr val="94A3B8"/>
                </a:solidFill>
                <a:latin typeface="Inter"/>
              </a:rPr>
              <a:t>Replace hardcoded HSV ranges with a UI tool allowing the user to click the cloak on-screen to dynamically calculate ranges.</a:t>
            </a:r>
          </a:p>
        </p:txBody>
      </p:sp>
      <p:sp>
        <p:nvSpPr>
          <p:cNvPr id="9" name="TextBox 8"/>
          <p:cNvSpPr txBox="1"/>
          <p:nvPr/>
        </p:nvSpPr>
        <p:spPr>
          <a:xfrm>
            <a:off x="4838700" y="3081337"/>
            <a:ext cx="2640330" cy="342900"/>
          </a:xfrm>
          <a:prstGeom prst="rect">
            <a:avLst/>
          </a:prstGeom>
          <a:noFill/>
        </p:spPr>
        <p:txBody>
          <a:bodyPr wrap="square" lIns="0" tIns="0" rIns="0" bIns="0" anchor="t">
            <a:spAutoFit/>
          </a:bodyPr>
          <a:lstStyle/>
          <a:p>
            <a:pPr algn="l"/>
            <a:r>
              <a:rPr sz="2100" b="0" i="0" u="none">
                <a:solidFill>
                  <a:srgbClr val="F1F5F9"/>
                </a:solidFill>
                <a:latin typeface="Space Grotesk SemiBold"/>
              </a:rPr>
              <a:t>Edge Feathering</a:t>
            </a:r>
          </a:p>
        </p:txBody>
      </p:sp>
      <p:sp>
        <p:nvSpPr>
          <p:cNvPr id="10" name="TextBox 9"/>
          <p:cNvSpPr txBox="1"/>
          <p:nvPr/>
        </p:nvSpPr>
        <p:spPr>
          <a:xfrm>
            <a:off x="4838700" y="3567112"/>
            <a:ext cx="2514600" cy="1524000"/>
          </a:xfrm>
          <a:prstGeom prst="rect">
            <a:avLst/>
          </a:prstGeom>
          <a:noFill/>
        </p:spPr>
        <p:txBody>
          <a:bodyPr wrap="square" lIns="0" tIns="0" rIns="0" bIns="0" anchor="t">
            <a:spAutoFit/>
          </a:bodyPr>
          <a:lstStyle/>
          <a:p>
            <a:pPr algn="l">
              <a:lnSpc>
                <a:spcPts val="2400"/>
              </a:lnSpc>
            </a:pPr>
            <a:r>
              <a:rPr sz="1500" b="0" i="0" u="none">
                <a:solidFill>
                  <a:srgbClr val="94A3B8"/>
                </a:solidFill>
                <a:latin typeface="Inter"/>
              </a:rPr>
              <a:t>Implement Gaussian blurring on the mask edges prior to compositing to eliminate the harsh "cutout" look.</a:t>
            </a:r>
          </a:p>
        </p:txBody>
      </p:sp>
      <p:sp>
        <p:nvSpPr>
          <p:cNvPr id="11" name="TextBox 10"/>
          <p:cNvSpPr txBox="1"/>
          <p:nvPr/>
        </p:nvSpPr>
        <p:spPr>
          <a:xfrm>
            <a:off x="8515350" y="3081337"/>
            <a:ext cx="2640330" cy="685800"/>
          </a:xfrm>
          <a:prstGeom prst="rect">
            <a:avLst/>
          </a:prstGeom>
          <a:noFill/>
        </p:spPr>
        <p:txBody>
          <a:bodyPr wrap="square" lIns="0" tIns="0" rIns="0" bIns="0" anchor="t">
            <a:spAutoFit/>
          </a:bodyPr>
          <a:lstStyle/>
          <a:p>
            <a:pPr algn="l"/>
            <a:r>
              <a:rPr sz="2100" b="0" i="0" u="none">
                <a:solidFill>
                  <a:srgbClr val="F1F5F9"/>
                </a:solidFill>
                <a:latin typeface="Space Grotesk SemiBold"/>
              </a:rPr>
              <a:t>Dynamic Background</a:t>
            </a:r>
          </a:p>
        </p:txBody>
      </p:sp>
      <p:sp>
        <p:nvSpPr>
          <p:cNvPr id="12" name="TextBox 11"/>
          <p:cNvSpPr txBox="1"/>
          <p:nvPr/>
        </p:nvSpPr>
        <p:spPr>
          <a:xfrm>
            <a:off x="8515350" y="3910012"/>
            <a:ext cx="2514600" cy="1524000"/>
          </a:xfrm>
          <a:prstGeom prst="rect">
            <a:avLst/>
          </a:prstGeom>
          <a:noFill/>
        </p:spPr>
        <p:txBody>
          <a:bodyPr wrap="square" lIns="0" tIns="0" rIns="0" bIns="0" anchor="t">
            <a:spAutoFit/>
          </a:bodyPr>
          <a:lstStyle/>
          <a:p>
            <a:pPr algn="l">
              <a:lnSpc>
                <a:spcPts val="2400"/>
              </a:lnSpc>
            </a:pPr>
            <a:r>
              <a:rPr sz="1500" b="0" i="0" u="none">
                <a:solidFill>
                  <a:srgbClr val="94A3B8"/>
                </a:solidFill>
                <a:latin typeface="Inter"/>
              </a:rPr>
              <a:t>Calculate a rolling average of background pixels to handle slight camera movements or shifting shadows over time.</a:t>
            </a:r>
          </a:p>
        </p:txBody>
      </p:sp>
      <p:pic>
        <p:nvPicPr>
          <p:cNvPr id="13" name="Picture 12" descr="image.png"/>
          <p:cNvPicPr>
            <a:picLocks noChangeAspect="1"/>
          </p:cNvPicPr>
          <p:nvPr/>
        </p:nvPicPr>
        <p:blipFill>
          <a:blip r:embed="rId6"/>
          <a:stretch>
            <a:fillRect/>
          </a:stretch>
        </p:blipFill>
        <p:spPr>
          <a:xfrm>
            <a:off x="1162050" y="2424112"/>
            <a:ext cx="428625" cy="381000"/>
          </a:xfrm>
          <a:prstGeom prst="rect">
            <a:avLst/>
          </a:prstGeom>
        </p:spPr>
      </p:pic>
      <p:pic>
        <p:nvPicPr>
          <p:cNvPr id="14" name="Picture 13" descr="image.png"/>
          <p:cNvPicPr>
            <a:picLocks noChangeAspect="1"/>
          </p:cNvPicPr>
          <p:nvPr/>
        </p:nvPicPr>
        <p:blipFill>
          <a:blip r:embed="rId7"/>
          <a:stretch>
            <a:fillRect/>
          </a:stretch>
        </p:blipFill>
        <p:spPr>
          <a:xfrm>
            <a:off x="4838700" y="2424112"/>
            <a:ext cx="285750" cy="381000"/>
          </a:xfrm>
          <a:prstGeom prst="rect">
            <a:avLst/>
          </a:prstGeom>
        </p:spPr>
      </p:pic>
      <p:pic>
        <p:nvPicPr>
          <p:cNvPr id="15" name="Picture 14" descr="image.png"/>
          <p:cNvPicPr>
            <a:picLocks noChangeAspect="1"/>
          </p:cNvPicPr>
          <p:nvPr/>
        </p:nvPicPr>
        <p:blipFill>
          <a:blip r:embed="rId8"/>
          <a:stretch>
            <a:fillRect/>
          </a:stretch>
        </p:blipFill>
        <p:spPr>
          <a:xfrm>
            <a:off x="8515350" y="2424112"/>
            <a:ext cx="476250" cy="381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20548" y="20548"/>
            <a:ext cx="12192000" cy="6858000"/>
          </a:xfrm>
          <a:prstGeom prst="rect">
            <a:avLst/>
          </a:prstGeom>
        </p:spPr>
      </p:pic>
      <p:pic>
        <p:nvPicPr>
          <p:cNvPr id="3" name="Picture 2" descr="image.png"/>
          <p:cNvPicPr>
            <a:picLocks noChangeAspect="1"/>
          </p:cNvPicPr>
          <p:nvPr/>
        </p:nvPicPr>
        <p:blipFill>
          <a:blip r:embed="rId3"/>
          <a:stretch>
            <a:fillRect/>
          </a:stretch>
        </p:blipFill>
        <p:spPr>
          <a:xfrm>
            <a:off x="5619750" y="3114675"/>
            <a:ext cx="952500" cy="38100"/>
          </a:xfrm>
          <a:prstGeom prst="rect">
            <a:avLst/>
          </a:prstGeom>
        </p:spPr>
      </p:pic>
      <p:sp>
        <p:nvSpPr>
          <p:cNvPr id="4" name="TextBox 3"/>
          <p:cNvSpPr txBox="1"/>
          <p:nvPr/>
        </p:nvSpPr>
        <p:spPr>
          <a:xfrm>
            <a:off x="4115752" y="1762125"/>
            <a:ext cx="3960495" cy="971550"/>
          </a:xfrm>
          <a:prstGeom prst="rect">
            <a:avLst/>
          </a:prstGeom>
          <a:noFill/>
        </p:spPr>
        <p:txBody>
          <a:bodyPr wrap="square" lIns="0" tIns="0" rIns="0" bIns="0" anchor="t">
            <a:spAutoFit/>
          </a:bodyPr>
          <a:lstStyle/>
          <a:p>
            <a:pPr algn="ctr"/>
            <a:r>
              <a:rPr sz="6000" b="0" i="0" u="none">
                <a:solidFill>
                  <a:srgbClr val="F8FAFC"/>
                </a:solidFill>
                <a:latin typeface="Space Grotesk SemiBold"/>
              </a:rPr>
              <a:t>Thank You</a:t>
            </a:r>
          </a:p>
        </p:txBody>
      </p:sp>
      <p:sp>
        <p:nvSpPr>
          <p:cNvPr id="5" name="TextBox 4"/>
          <p:cNvSpPr txBox="1"/>
          <p:nvPr/>
        </p:nvSpPr>
        <p:spPr>
          <a:xfrm>
            <a:off x="5162550" y="3533775"/>
            <a:ext cx="1866900" cy="365670"/>
          </a:xfrm>
          <a:prstGeom prst="rect">
            <a:avLst/>
          </a:prstGeom>
          <a:noFill/>
        </p:spPr>
        <p:txBody>
          <a:bodyPr wrap="square" lIns="0" tIns="0" rIns="0" bIns="0" anchor="t">
            <a:spAutoFit/>
          </a:bodyPr>
          <a:lstStyle/>
          <a:p>
            <a:pPr algn="ctr">
              <a:lnSpc>
                <a:spcPts val="2879"/>
              </a:lnSpc>
            </a:pPr>
            <a:r>
              <a:rPr sz="1800" b="0" i="0" u="none">
                <a:solidFill>
                  <a:srgbClr val="94A3B8"/>
                </a:solidFill>
                <a:latin typeface="JetBrains Mono"/>
              </a:rPr>
              <a:t>System.exit(0)</a:t>
            </a:r>
          </a:p>
        </p:txBody>
      </p:sp>
      <p:pic>
        <p:nvPicPr>
          <p:cNvPr id="6" name="Picture 5" descr="image.png"/>
          <p:cNvPicPr>
            <a:picLocks noChangeAspect="1"/>
          </p:cNvPicPr>
          <p:nvPr/>
        </p:nvPicPr>
        <p:blipFill>
          <a:blip r:embed="rId4"/>
          <a:stretch>
            <a:fillRect/>
          </a:stretch>
        </p:blipFill>
        <p:spPr>
          <a:xfrm>
            <a:off x="5233987" y="4470945"/>
            <a:ext cx="276225" cy="285750"/>
          </a:xfrm>
          <a:prstGeom prst="rect">
            <a:avLst/>
          </a:prstGeom>
        </p:spPr>
      </p:pic>
      <p:sp>
        <p:nvSpPr>
          <p:cNvPr id="7" name="TextBox 6"/>
          <p:cNvSpPr txBox="1"/>
          <p:nvPr/>
        </p:nvSpPr>
        <p:spPr>
          <a:xfrm>
            <a:off x="4552950" y="4851945"/>
            <a:ext cx="1638300" cy="243780"/>
          </a:xfrm>
          <a:prstGeom prst="rect">
            <a:avLst/>
          </a:prstGeom>
          <a:noFill/>
        </p:spPr>
        <p:txBody>
          <a:bodyPr wrap="square" lIns="0" tIns="0" rIns="0" bIns="0" anchor="t">
            <a:spAutoFit/>
          </a:bodyPr>
          <a:lstStyle/>
          <a:p>
            <a:pPr algn="ctr">
              <a:lnSpc>
                <a:spcPts val="1920"/>
              </a:lnSpc>
            </a:pPr>
            <a:r>
              <a:rPr sz="1200" b="0" i="0" u="none">
                <a:solidFill>
                  <a:srgbClr val="94A3B8"/>
                </a:solidFill>
                <a:latin typeface="Inter"/>
              </a:rPr>
              <a:t>Source Code Available</a:t>
            </a:r>
          </a:p>
        </p:txBody>
      </p:sp>
      <p:pic>
        <p:nvPicPr>
          <p:cNvPr id="8" name="Picture 7" descr="image.png"/>
          <p:cNvPicPr>
            <a:picLocks noChangeAspect="1"/>
          </p:cNvPicPr>
          <p:nvPr/>
        </p:nvPicPr>
        <p:blipFill>
          <a:blip r:embed="rId5"/>
          <a:stretch>
            <a:fillRect/>
          </a:stretch>
        </p:blipFill>
        <p:spPr>
          <a:xfrm>
            <a:off x="6924675" y="4470945"/>
            <a:ext cx="361950" cy="285750"/>
          </a:xfrm>
          <a:prstGeom prst="rect">
            <a:avLst/>
          </a:prstGeom>
        </p:spPr>
      </p:pic>
      <p:sp>
        <p:nvSpPr>
          <p:cNvPr id="9" name="TextBox 8"/>
          <p:cNvSpPr txBox="1"/>
          <p:nvPr/>
        </p:nvSpPr>
        <p:spPr>
          <a:xfrm>
            <a:off x="6572250" y="4851945"/>
            <a:ext cx="1066800" cy="223394"/>
          </a:xfrm>
          <a:prstGeom prst="rect">
            <a:avLst/>
          </a:prstGeom>
          <a:noFill/>
        </p:spPr>
        <p:txBody>
          <a:bodyPr wrap="square" lIns="0" tIns="0" rIns="0" bIns="0" anchor="t">
            <a:spAutoFit/>
          </a:bodyPr>
          <a:lstStyle/>
          <a:p>
            <a:pPr algn="ctr">
              <a:lnSpc>
                <a:spcPts val="1920"/>
              </a:lnSpc>
            </a:pPr>
            <a:r>
              <a:rPr sz="1200" b="0" i="0" u="none" dirty="0">
                <a:solidFill>
                  <a:srgbClr val="94A3B8"/>
                </a:solidFill>
                <a:latin typeface="Inter"/>
              </a:rPr>
              <a:t>Ready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9090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71525" y="581025"/>
            <a:ext cx="11181397" cy="581025"/>
          </a:xfrm>
          <a:prstGeom prst="rect">
            <a:avLst/>
          </a:prstGeom>
          <a:noFill/>
        </p:spPr>
        <p:txBody>
          <a:bodyPr wrap="square" lIns="0" tIns="0" rIns="0" bIns="0" anchor="t">
            <a:spAutoFit/>
          </a:bodyPr>
          <a:lstStyle/>
          <a:p>
            <a:pPr algn="l"/>
            <a:r>
              <a:rPr sz="3600" b="0" i="0" u="none">
                <a:solidFill>
                  <a:srgbClr val="F8FAFC"/>
                </a:solidFill>
                <a:latin typeface="Space Grotesk SemiBold"/>
              </a:rPr>
              <a:t>Image Sources</a:t>
            </a:r>
          </a:p>
        </p:txBody>
      </p:sp>
      <p:sp>
        <p:nvSpPr>
          <p:cNvPr id="4" name="Rectangle 3"/>
          <p:cNvSpPr/>
          <p:nvPr/>
        </p:nvSpPr>
        <p:spPr>
          <a:xfrm>
            <a:off x="771525" y="3030884"/>
            <a:ext cx="1064895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1525" y="3806130"/>
            <a:ext cx="106489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1525" y="3806130"/>
            <a:ext cx="106489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3"/>
          <a:stretch>
            <a:fillRect/>
          </a:stretch>
        </p:blipFill>
        <p:spPr>
          <a:xfrm>
            <a:off x="771525" y="3180308"/>
            <a:ext cx="857250" cy="476250"/>
          </a:xfrm>
          <a:prstGeom prst="rect">
            <a:avLst/>
          </a:prstGeom>
        </p:spPr>
      </p:pic>
      <p:sp>
        <p:nvSpPr>
          <p:cNvPr id="8" name="TextBox 7"/>
          <p:cNvSpPr txBox="1"/>
          <p:nvPr/>
        </p:nvSpPr>
        <p:spPr>
          <a:xfrm>
            <a:off x="1866900" y="3173759"/>
            <a:ext cx="9553575" cy="198090"/>
          </a:xfrm>
          <a:prstGeom prst="rect">
            <a:avLst/>
          </a:prstGeom>
          <a:noFill/>
        </p:spPr>
        <p:txBody>
          <a:bodyPr wrap="square" lIns="0" tIns="0" rIns="0" bIns="0" anchor="t">
            <a:spAutoFit/>
          </a:bodyPr>
          <a:lstStyle/>
          <a:p>
            <a:pPr algn="l">
              <a:lnSpc>
                <a:spcPts val="1560"/>
              </a:lnSpc>
            </a:pPr>
            <a:r>
              <a:rPr sz="975" b="0" i="0" u="none">
                <a:solidFill>
                  <a:srgbClr val="94A3B8"/>
                </a:solidFill>
                <a:latin typeface="Inter"/>
              </a:rPr>
              <a:t>https://miro.medium.com/v2/resize:fit:1226/1*XL-dmUoE-G3MBEVIG1d1sQ.png</a:t>
            </a:r>
          </a:p>
        </p:txBody>
      </p:sp>
      <p:sp>
        <p:nvSpPr>
          <p:cNvPr id="9" name="TextBox 8"/>
          <p:cNvSpPr txBox="1"/>
          <p:nvPr/>
        </p:nvSpPr>
        <p:spPr>
          <a:xfrm>
            <a:off x="1866900" y="3419475"/>
            <a:ext cx="9553575" cy="243780"/>
          </a:xfrm>
          <a:prstGeom prst="rect">
            <a:avLst/>
          </a:prstGeom>
          <a:noFill/>
        </p:spPr>
        <p:txBody>
          <a:bodyPr wrap="square" lIns="0" tIns="0" rIns="0" bIns="0" anchor="t">
            <a:spAutoFit/>
          </a:bodyPr>
          <a:lstStyle/>
          <a:p>
            <a:pPr algn="l">
              <a:lnSpc>
                <a:spcPts val="1920"/>
              </a:lnSpc>
            </a:pPr>
            <a:r>
              <a:rPr sz="1200" b="0" i="0" u="none">
                <a:solidFill>
                  <a:srgbClr val="94A3B8"/>
                </a:solidFill>
                <a:latin typeface="Inter"/>
              </a:rPr>
              <a:t>Source: </a:t>
            </a:r>
            <a:r>
              <a:rPr sz="1200" b="0" i="0" u="none">
                <a:solidFill>
                  <a:srgbClr val="4F46E5"/>
                </a:solidFill>
                <a:latin typeface="Inter"/>
              </a:rPr>
              <a:t>medium.com</a:t>
            </a:r>
          </a:p>
        </p:txBody>
      </p:sp>
      <p:pic>
        <p:nvPicPr>
          <p:cNvPr id="10" name="Picture 9" descr="image.png"/>
          <p:cNvPicPr>
            <a:picLocks noChangeAspect="1"/>
          </p:cNvPicPr>
          <p:nvPr/>
        </p:nvPicPr>
        <p:blipFill>
          <a:blip r:embed="rId4"/>
          <a:stretch>
            <a:fillRect/>
          </a:stretch>
        </p:blipFill>
        <p:spPr>
          <a:xfrm>
            <a:off x="771525" y="4064198"/>
            <a:ext cx="857250" cy="476250"/>
          </a:xfrm>
          <a:prstGeom prst="rect">
            <a:avLst/>
          </a:prstGeom>
        </p:spPr>
      </p:pic>
      <p:sp>
        <p:nvSpPr>
          <p:cNvPr id="11" name="TextBox 10"/>
          <p:cNvSpPr txBox="1"/>
          <p:nvPr/>
        </p:nvSpPr>
        <p:spPr>
          <a:xfrm>
            <a:off x="1866900" y="3958530"/>
            <a:ext cx="9553575" cy="396180"/>
          </a:xfrm>
          <a:prstGeom prst="rect">
            <a:avLst/>
          </a:prstGeom>
          <a:noFill/>
        </p:spPr>
        <p:txBody>
          <a:bodyPr wrap="square" lIns="0" tIns="0" rIns="0" bIns="0" anchor="t">
            <a:spAutoFit/>
          </a:bodyPr>
          <a:lstStyle/>
          <a:p>
            <a:pPr algn="l">
              <a:lnSpc>
                <a:spcPts val="1560"/>
              </a:lnSpc>
            </a:pPr>
            <a:r>
              <a:rPr sz="975" b="0" i="0" u="none">
                <a:solidFill>
                  <a:srgbClr val="94A3B8"/>
                </a:solidFill>
                <a:latin typeface="Inter"/>
              </a:rPr>
              <a:t>https://elements-resized.envatousercontent.com/elements-video-cover-images/59c17bc6-cc84-4d10-b598-c27f9e0960d9/video_preview/video_preview_0001.jpg?w=500&amp;cf_fit=cover&amp;q=85&amp;format=auto&amp;s=4f989b0581f177d13446483bd90a9b6bb72bcaab601017c2bced5149d49ddfdf</a:t>
            </a:r>
          </a:p>
        </p:txBody>
      </p:sp>
      <p:sp>
        <p:nvSpPr>
          <p:cNvPr id="12" name="TextBox 11"/>
          <p:cNvSpPr txBox="1"/>
          <p:nvPr/>
        </p:nvSpPr>
        <p:spPr>
          <a:xfrm>
            <a:off x="1866900" y="4402335"/>
            <a:ext cx="9553575" cy="243780"/>
          </a:xfrm>
          <a:prstGeom prst="rect">
            <a:avLst/>
          </a:prstGeom>
          <a:noFill/>
        </p:spPr>
        <p:txBody>
          <a:bodyPr wrap="square" lIns="0" tIns="0" rIns="0" bIns="0" anchor="t">
            <a:spAutoFit/>
          </a:bodyPr>
          <a:lstStyle/>
          <a:p>
            <a:pPr algn="l">
              <a:lnSpc>
                <a:spcPts val="1920"/>
              </a:lnSpc>
            </a:pPr>
            <a:r>
              <a:rPr sz="1200" b="0" i="0" u="none">
                <a:solidFill>
                  <a:srgbClr val="94A3B8"/>
                </a:solidFill>
                <a:latin typeface="Inter"/>
              </a:rPr>
              <a:t>Source: </a:t>
            </a:r>
            <a:r>
              <a:rPr sz="1200" b="0" i="0" u="none">
                <a:solidFill>
                  <a:srgbClr val="4F46E5"/>
                </a:solidFill>
                <a:latin typeface="Inter"/>
              </a:rPr>
              <a:t>elements.envato.com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1267</Words>
  <Application>Microsoft Office PowerPoint</Application>
  <PresentationFormat>Widescreen</PresentationFormat>
  <Paragraphs>173</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Inter</vt:lpstr>
      <vt:lpstr>JetBrains Mono</vt:lpstr>
      <vt:lpstr>JetBrains Mono SemiBold</vt:lpstr>
      <vt:lpstr>Space Grotesk</vt:lpstr>
      <vt:lpstr>Space Grotesk Medium</vt:lpstr>
      <vt:lpstr>Space Grotesk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Jayvardhan Champavat</cp:lastModifiedBy>
  <cp:revision>2</cp:revision>
  <dcterms:created xsi:type="dcterms:W3CDTF">2013-01-27T09:14:16Z</dcterms:created>
  <dcterms:modified xsi:type="dcterms:W3CDTF">2026-08-14T06:00:44Z</dcterms:modified>
  <cp:category/>
</cp:coreProperties>
</file>